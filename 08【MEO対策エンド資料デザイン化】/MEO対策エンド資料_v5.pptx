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TextBox 19"/>
          <p:cNvSpPr txBox="1"/>
          <p:nvPr/>
        </p:nvSpPr>
        <p:spPr>
          <a:xfrm>
            <a:off x="3656685" y="34290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D8F0EF"/>
                </a:solidFill>
              </a:rPr>
              <a:t>MEO</a:t>
            </a:r>
          </a:p>
        </p:txBody>
      </p:sp>
      <p:sp>
        <p:nvSpPr>
          <p:cNvPr id="19" name="Rectangle 18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3DD9E0"/>
              </a:gs>
            </a:gsLst>
            <a:lin ang="5400000" scaled="0"/>
          </a:gradFill>
          <a:xfrm>
            <a:off x="5119359" y="0"/>
            <a:ext cx="706959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1540000">
            <a:off x="-182880" y="4766310"/>
            <a:ext cx="12554712" cy="62179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22818" y="-914400"/>
            <a:ext cx="4206240" cy="4206240"/>
          </a:xfrm>
          <a:prstGeom prst="ellipse">
            <a:avLst/>
          </a:prstGeom>
          <a:solidFill>
            <a:srgbClr val="3D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7313371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MEO対策で</a:t>
            </a:r>
          </a:p>
          <a:p>
            <a:pPr algn="l"/>
            <a:r>
              <a:rPr sz="5200" b="1">
                <a:solidFill>
                  <a:srgbClr val="FFFFFF"/>
                </a:solidFill>
              </a:rPr>
              <a:t>集客力を最大化する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755715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C000"/>
                </a:solidFill>
              </a:rPr>
              <a:t>Googleマップ集客で、売上が上がる、選ばれるお店に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40630"/>
            <a:ext cx="54850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86C"/>
                </a:solidFill>
              </a:rPr>
              <a:t>MEO対策 / Googleビジネスプロフィール最適化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54980"/>
            <a:ext cx="54850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234"/>
                </a:solidFill>
              </a:rPr>
              <a:t>検索上位獲得で、見込み客を自動集客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3923" y="5040630"/>
            <a:ext cx="4875580" cy="420624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5813" y="5077206"/>
            <a:ext cx="21940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D6D4"/>
                </a:solidFill>
              </a:rPr>
              <a:t>Google利用率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1714" y="5077206"/>
            <a:ext cx="21940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000"/>
                </a:solidFill>
              </a:rPr>
              <a:t>78.8%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3923" y="5543550"/>
            <a:ext cx="4875580" cy="420624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5813" y="5580126"/>
            <a:ext cx="21940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D6D4"/>
                </a:solidFill>
              </a:rPr>
              <a:t>ローカル検索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1714" y="5580126"/>
            <a:ext cx="21940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000"/>
                </a:solidFill>
              </a:rPr>
              <a:t>5人に4人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3923" y="6046470"/>
            <a:ext cx="4875580" cy="420624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5813" y="6083046"/>
            <a:ext cx="21940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D6D4"/>
                </a:solidFill>
              </a:rPr>
              <a:t>MAP上位＝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1714" y="6083046"/>
            <a:ext cx="21940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000"/>
                </a:solidFill>
              </a:rPr>
              <a:t>自動集客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3371" y="0"/>
            <a:ext cx="4875580" cy="685800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1540000">
            <a:off x="-182880" y="3360420"/>
            <a:ext cx="12554712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35260" y="411480"/>
            <a:ext cx="4509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009A9A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65860"/>
            <a:ext cx="633825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DD9E0"/>
                </a:solidFill>
              </a:rPr>
              <a:t>検索のメインがスマートフォンの今</a:t>
            </a:r>
          </a:p>
          <a:p>
            <a:pPr algn="l"/>
            <a:r>
              <a:rPr sz="1700" b="0">
                <a:solidFill>
                  <a:srgbClr val="3DD9E0"/>
                </a:solidFill>
              </a:rPr>
              <a:t>店舗集客の最短は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6338255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Googleマップ戦略</a:t>
            </a:r>
          </a:p>
          <a:p>
            <a:pPr algn="l"/>
            <a:r>
              <a:rPr sz="4200" b="1">
                <a:solidFill>
                  <a:srgbClr val="FFFFFF"/>
                </a:solidFill>
              </a:rPr>
              <a:t>で勝つこと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MAP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今、MEO対策が必要な理由 ─ お客様はこうしてお店を選んでいます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Customer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549908"/>
            <a:ext cx="2587752" cy="463143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6596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C000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168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検索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92908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スマートフォンで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地域＋業種を検索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549908"/>
            <a:ext cx="2587752" cy="463143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6596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C000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1168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比較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692908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写真や★評価で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複数店舗を比較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549908"/>
            <a:ext cx="2587752" cy="4631436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6596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C000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1168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決定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692908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口コミを読んで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来店店舗を決定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1392" y="1549908"/>
            <a:ext cx="2587752" cy="463143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16596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C000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1168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行動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692908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ルート検索・電話で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来店行動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" y="6199632"/>
            <a:ext cx="112379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5E6E"/>
                </a:solidFill>
              </a:rPr>
              <a:t>これら全て、Googleマップだけで完結します！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TOP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検索結果で最も目立つ場所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Google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" y="1476756"/>
            <a:ext cx="4631801" cy="5116068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05356"/>
            <a:ext cx="414424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検索結果で</a:t>
            </a:r>
          </a:p>
          <a:p>
            <a:pPr algn="l"/>
            <a:r>
              <a:rPr sz="2800" b="1">
                <a:solidFill>
                  <a:srgbClr val="FFFFFF"/>
                </a:solidFill>
              </a:rPr>
              <a:t>最も目立つ場所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076956"/>
            <a:ext cx="426613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C000"/>
                </a:solidFill>
              </a:rPr>
              <a:t>それが、Googleマップです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515868"/>
            <a:ext cx="43880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CCCA"/>
                </a:solidFill>
              </a:rPr>
              <a:t>検索画面の上から順に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717036"/>
            <a:ext cx="43880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① 広告枠（リスティング）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311396"/>
            <a:ext cx="43880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② 地図枠＝ローカルパック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905756"/>
            <a:ext cx="43880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③ 自然検索枠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58855" y="1476756"/>
            <a:ext cx="5963168" cy="132588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8583" y="1604772"/>
            <a:ext cx="5734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CCCA"/>
                </a:solidFill>
              </a:rPr>
              <a:t>ローカルパック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2007" y="1970532"/>
            <a:ext cx="581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C000"/>
                </a:solidFill>
              </a:rPr>
              <a:t>TOP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8583" y="2299716"/>
            <a:ext cx="5734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に表示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58855" y="2967228"/>
            <a:ext cx="5963168" cy="132588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8583" y="3095244"/>
            <a:ext cx="5734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CCCA"/>
                </a:solidFill>
              </a:rPr>
              <a:t>広告枠との比較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2007" y="3461004"/>
            <a:ext cx="581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C000"/>
                </a:solidFill>
              </a:rPr>
              <a:t>2〜3倍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8583" y="3790188"/>
            <a:ext cx="5734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クリック率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8855" y="4457700"/>
            <a:ext cx="5963168" cy="132588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8583" y="4585716"/>
            <a:ext cx="5734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CCCA"/>
                </a:solidFill>
              </a:rPr>
              <a:t>表示コスト ¥0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2007" y="4951476"/>
            <a:ext cx="581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C000"/>
                </a:solidFill>
              </a:rPr>
              <a:t>24時間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8583" y="5280660"/>
            <a:ext cx="5734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自動集客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¥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Googleマップが売上に直結する理由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1495044"/>
            <a:ext cx="3438144" cy="463143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604772"/>
            <a:ext cx="33284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C000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089404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圧倒的</a:t>
            </a:r>
          </a:p>
          <a:p>
            <a:pPr algn="ctr"/>
            <a:r>
              <a:rPr sz="2400" b="1">
                <a:solidFill>
                  <a:srgbClr val="FFFFFF"/>
                </a:solidFill>
              </a:rPr>
              <a:t>ビュー数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912364"/>
            <a:ext cx="33284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上位表示されるだけで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月数万〜数十万回の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表示機会を獲得できます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495044"/>
            <a:ext cx="3438144" cy="463143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04772"/>
            <a:ext cx="33284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C000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89404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来店意欲</a:t>
            </a:r>
          </a:p>
          <a:p>
            <a:pPr algn="ctr"/>
            <a:r>
              <a:rPr sz="2400" b="1">
                <a:solidFill>
                  <a:srgbClr val="FFFFFF"/>
                </a:solidFill>
              </a:rPr>
              <a:t>の向上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12364"/>
            <a:ext cx="33284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写真・口コミで信頼感UP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初めてのお客様も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安心して来店できます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7848" y="1495044"/>
            <a:ext cx="3438144" cy="4631436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7576" y="1604772"/>
            <a:ext cx="33284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C000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089404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売上</a:t>
            </a:r>
          </a:p>
          <a:p>
            <a:pPr algn="ctr"/>
            <a:r>
              <a:rPr sz="2400" b="1">
                <a:solidFill>
                  <a:srgbClr val="FFFFFF"/>
                </a:solidFill>
              </a:rPr>
              <a:t>拡大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912364"/>
            <a:ext cx="33284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ルート検索・電話・予約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来店行動の全てがMAP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一つで完結します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" y="6236208"/>
            <a:ext cx="11237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5E6E"/>
                </a:solidFill>
              </a:rPr>
              <a:t>上位表示が、直接的な利益に繋がる体験をご実感ください！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E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3656685" y="68580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0" b="1">
                <a:solidFill>
                  <a:srgbClr val="004A58"/>
                </a:solidFill>
              </a:rPr>
              <a:t>ACTION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68712" y="128016"/>
            <a:ext cx="1737360" cy="347472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22234"/>
                </a:solidFill>
              </a:rPr>
              <a:t>User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64592"/>
            <a:ext cx="112379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Googleマップ経由で増える行動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969264"/>
            <a:ext cx="112379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C000"/>
                </a:solidFill>
              </a:rPr>
              <a:t>ユーザーはGoogleマップで「見つけて → 確認して → 来店する」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2626614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24254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9A9A"/>
                </a:solidFill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23160"/>
            <a:ext cx="25351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</a:rPr>
              <a:t>店舗をみつける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127248"/>
            <a:ext cx="253517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「近くの○○」で検索</a:t>
            </a:r>
          </a:p>
          <a:p>
            <a:pPr algn="ctr"/>
            <a:r>
              <a:rPr sz="1300" b="0">
                <a:solidFill>
                  <a:srgbClr val="44586C"/>
                </a:solidFill>
              </a:rPr>
              <a:t>地図上に表示される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6422" y="1600200"/>
            <a:ext cx="2626614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7862" y="1719072"/>
            <a:ext cx="24254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9A9A"/>
                </a:solidFill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2142" y="2423160"/>
            <a:ext cx="25351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</a:rPr>
              <a:t>写真・口コミを見る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2142" y="3127248"/>
            <a:ext cx="253517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雰囲気・評判を確認</a:t>
            </a:r>
          </a:p>
          <a:p>
            <a:pPr algn="ctr"/>
            <a:r>
              <a:rPr sz="1300" b="0">
                <a:solidFill>
                  <a:srgbClr val="44586C"/>
                </a:solidFill>
              </a:rPr>
              <a:t>来店判断に直結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5916" y="1600200"/>
            <a:ext cx="2626614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7356" y="1719072"/>
            <a:ext cx="24254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9A9A"/>
                </a:solidFill>
              </a:rPr>
              <a:t>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2423160"/>
            <a:ext cx="25351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</a:rPr>
              <a:t>ルート検索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3127248"/>
            <a:ext cx="253517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ワンタップで経路案内</a:t>
            </a:r>
          </a:p>
          <a:p>
            <a:pPr algn="ctr"/>
            <a:r>
              <a:rPr sz="1300" b="0">
                <a:solidFill>
                  <a:srgbClr val="44586C"/>
                </a:solidFill>
              </a:rPr>
              <a:t>来店率が大幅UP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5410" y="1600200"/>
            <a:ext cx="2626614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6850" y="1719072"/>
            <a:ext cx="242544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9A9A"/>
                </a:solidFill>
              </a:rP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1130" y="2423160"/>
            <a:ext cx="25351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234"/>
                </a:solidFill>
              </a:rPr>
              <a:t>ウェブサイトを見る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1130" y="3127248"/>
            <a:ext cx="253517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メニュー・予約ページへ</a:t>
            </a:r>
          </a:p>
          <a:p>
            <a:pPr algn="ctr"/>
            <a:r>
              <a:rPr sz="1300" b="0">
                <a:solidFill>
                  <a:srgbClr val="44586C"/>
                </a:solidFill>
              </a:rPr>
              <a:t>シームレスに誘導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vs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選ばれる店舗と選ばれない店舗の差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" y="1458468"/>
            <a:ext cx="5765292" cy="5042916"/>
          </a:xfrm>
          <a:prstGeom prst="roundRect">
            <a:avLst/>
          </a:prstGeom>
          <a:solidFill>
            <a:srgbClr val="C8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659636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4586C"/>
                </a:solidFill>
              </a:rPr>
              <a:t>✕  選ばれない店舗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372868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×  写真がない / 少ない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903220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×  住所・電話番号が不正確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433572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×  口コミゼロ or 放置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963924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×  情報更新が止まっている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494276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234"/>
                </a:solidFill>
              </a:rPr>
              <a:t>×  営業時間が不明確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172200"/>
            <a:ext cx="56281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BCCC"/>
                </a:solidFill>
              </a:rPr>
              <a:t>機会損失 — 見込み客を競合に奪われる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6500" y="1458468"/>
            <a:ext cx="5765292" cy="504291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9380" y="1659636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◎  選ばれる店舗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2372868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魅力的な写真が豊富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2903220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情報が正確で最新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3433572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高評価口コミが多い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963924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定期的に情報更新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4494276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オーナー返信あり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3660" y="6172200"/>
            <a:ext cx="56281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集客チャンス — 選ばれ続ける店舗へ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UP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上位表示されると何が変わるのか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Effect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549908"/>
            <a:ext cx="2683764" cy="4494276"/>
          </a:xfrm>
          <a:prstGeom prst="roundRect">
            <a:avLst/>
          </a:prstGeom>
          <a:solidFill>
            <a:srgbClr val="C8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751076"/>
            <a:ext cx="2537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234"/>
                </a:solidFill>
              </a:rPr>
              <a:t>圏外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391156"/>
            <a:ext cx="25374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2234"/>
                </a:solidFill>
              </a:rPr>
              <a:t>見つけてもらえない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存在しないも同然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0108" y="32577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00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4428" y="1829257"/>
            <a:ext cx="2683764" cy="421492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4156" y="2030425"/>
            <a:ext cx="2537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上位表示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4156" y="2670505"/>
            <a:ext cx="25374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検索で発見される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月間ビュー数が激増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577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000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8606"/>
            <a:ext cx="2683764" cy="3935577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309774"/>
            <a:ext cx="2537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信頼獲得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949854"/>
            <a:ext cx="25374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口コミ・写真で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来店意欲が高まる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092" y="32577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000"/>
                </a:solidFill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1412" y="2387955"/>
            <a:ext cx="2683764" cy="3656228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1140" y="2589123"/>
            <a:ext cx="2537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234"/>
                </a:solidFill>
              </a:rPr>
              <a:t>売上UP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1140" y="3229203"/>
            <a:ext cx="25374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2234"/>
                </a:solidFill>
              </a:rPr>
              <a:t>電話・来店・予約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アクション数が倍増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" y="6309360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4586C"/>
                </a:solidFill>
              </a:rPr>
              <a:t>どれだけプロフィールを整えても、見つからなければ効果は得られません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×3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Googleが店舗を評価する3つの要素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 Factors</a:t>
            </a:r>
          </a:p>
        </p:txBody>
      </p:sp>
      <p:sp>
        <p:nvSpPr>
          <p:cNvPr id="9" name="Oval 8"/>
          <p:cNvSpPr/>
          <p:nvPr/>
        </p:nvSpPr>
        <p:spPr>
          <a:xfrm>
            <a:off x="1010594" y="1549908"/>
            <a:ext cx="3026298" cy="3760287"/>
          </a:xfrm>
          <a:prstGeom prst="ellipse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79193"/>
            <a:ext cx="302629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関連性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742194"/>
            <a:ext cx="30262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C000"/>
                </a:solidFill>
              </a:rPr>
              <a:t>Relevance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3292480"/>
            <a:ext cx="302629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検索キーワードと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プロフィール情報の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一致度・完全性</a:t>
            </a:r>
          </a:p>
        </p:txBody>
      </p:sp>
      <p:sp>
        <p:nvSpPr>
          <p:cNvPr id="13" name="Oval 12"/>
          <p:cNvSpPr/>
          <p:nvPr/>
        </p:nvSpPr>
        <p:spPr>
          <a:xfrm>
            <a:off x="4613330" y="1549908"/>
            <a:ext cx="3026298" cy="3760287"/>
          </a:xfrm>
          <a:prstGeom prst="ellipse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779193"/>
            <a:ext cx="302629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距離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742194"/>
            <a:ext cx="30262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C000"/>
                </a:solidFill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292480"/>
            <a:ext cx="302629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ユーザーの現在地と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店舗の物理的距離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（エリア設定も有効）</a:t>
            </a:r>
          </a:p>
        </p:txBody>
      </p:sp>
      <p:sp>
        <p:nvSpPr>
          <p:cNvPr id="17" name="Oval 16"/>
          <p:cNvSpPr/>
          <p:nvPr/>
        </p:nvSpPr>
        <p:spPr>
          <a:xfrm>
            <a:off x="8216066" y="1549908"/>
            <a:ext cx="3026298" cy="3760287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1779193"/>
            <a:ext cx="302629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知名度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742194"/>
            <a:ext cx="30262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C000"/>
                </a:solidFill>
              </a:rPr>
              <a:t>Prominence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292480"/>
            <a:ext cx="302629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口コミ数・評価点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Web上での言及度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ブランド認知度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" y="6291072"/>
            <a:ext cx="112379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86C"/>
                </a:solidFill>
              </a:rPr>
              <a:t>Googleのアルゴリズムは日々変化します。専門知識なしでMEO対策を継続するのは困難な時代です。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GPS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距離とエリアの考え方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Area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" y="1458468"/>
            <a:ext cx="4266133" cy="5134356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77924"/>
            <a:ext cx="365668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距離と</a:t>
            </a:r>
          </a:p>
          <a:p>
            <a:pPr algn="l"/>
            <a:r>
              <a:rPr sz="3400" b="1">
                <a:solidFill>
                  <a:srgbClr val="FFFFFF"/>
                </a:solidFill>
              </a:rPr>
              <a:t>エリアの</a:t>
            </a:r>
          </a:p>
          <a:p>
            <a:pPr algn="l"/>
            <a:r>
              <a:rPr sz="3400" b="1">
                <a:solidFill>
                  <a:srgbClr val="FFFFFF"/>
                </a:solidFill>
              </a:rPr>
              <a:t>考え方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899916"/>
            <a:ext cx="39004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000"/>
                </a:solidFill>
              </a:rPr>
              <a:t>Googleは距離だけでなく</a:t>
            </a:r>
          </a:p>
          <a:p>
            <a:pPr algn="l"/>
            <a:r>
              <a:rPr sz="1300" b="0">
                <a:solidFill>
                  <a:srgbClr val="F5C000"/>
                </a:solidFill>
              </a:rPr>
              <a:t>関連性・知名度も</a:t>
            </a:r>
          </a:p>
          <a:p>
            <a:pPr algn="l"/>
            <a:r>
              <a:rPr sz="1300" b="0">
                <a:solidFill>
                  <a:srgbClr val="F5C000"/>
                </a:solidFill>
              </a:rPr>
              <a:t>総合的に判断します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71297" y="1531620"/>
            <a:ext cx="50292" cy="149199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5889" y="1549908"/>
            <a:ext cx="626784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</a:rPr>
              <a:t>📍  地域キーワード対策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5889" y="2080260"/>
            <a:ext cx="6222126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86C"/>
                </a:solidFill>
              </a:rPr>
              <a:t>「新宿 カフェ」「渋谷 ランチ」など地名を含むキーワードで</a:t>
            </a:r>
          </a:p>
          <a:p>
            <a:pPr algn="l"/>
            <a:r>
              <a:rPr sz="1200" b="0">
                <a:solidFill>
                  <a:srgbClr val="44586C"/>
                </a:solidFill>
              </a:rPr>
              <a:t>上位表示を狙うことが効果的です。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71297" y="3188208"/>
            <a:ext cx="50292" cy="149199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5889" y="3206496"/>
            <a:ext cx="626784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</a:rPr>
              <a:t>🎯  エリア設定の最適化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5889" y="3736848"/>
            <a:ext cx="6222126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86C"/>
                </a:solidFill>
              </a:rPr>
              <a:t>店舗から一定距離のユーザーに表示されやすくするため</a:t>
            </a:r>
          </a:p>
          <a:p>
            <a:pPr algn="l"/>
            <a:r>
              <a:rPr sz="1200" b="0">
                <a:solidFill>
                  <a:srgbClr val="44586C"/>
                </a:solidFill>
              </a:rPr>
              <a:t>サービスエリアの正確な設定が重要です。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1297" y="4844796"/>
            <a:ext cx="50292" cy="149199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5889" y="4863084"/>
            <a:ext cx="626784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234"/>
                </a:solidFill>
              </a:rPr>
              <a:t>🔍  検索意図との一致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5889" y="5393436"/>
            <a:ext cx="6222126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86C"/>
                </a:solidFill>
              </a:rPr>
              <a:t>「近くの○○」「今すぐ行ける○○」など</a:t>
            </a:r>
          </a:p>
          <a:p>
            <a:pPr algn="l"/>
            <a:r>
              <a:rPr sz="1200" b="0">
                <a:solidFill>
                  <a:srgbClr val="44586C"/>
                </a:solidFill>
              </a:rPr>
              <a:t>来店意欲の高いキーワードへの対応が成果を左右します。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★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知名度・口コミの影響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495044"/>
            <a:ext cx="2587752" cy="472287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67792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口コミの数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6292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多くのポジティブな口コミは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信頼性を高め、新規顧客を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引きつけます。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495044"/>
            <a:ext cx="2587752" cy="472287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7792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口コミの質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336292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具体的な高評価は順位だけで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なく来店意欲を直接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高めます。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95044"/>
            <a:ext cx="2587752" cy="4722876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67792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オーナー返信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336292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返信はGoogleとユーザー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双方からの評価対象。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誠実な対応が武器になります。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51392" y="1495044"/>
            <a:ext cx="2587752" cy="472287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67792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知名度UP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36292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Web上での言及・被リンク・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SNSでの認知度も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アルゴリズムが参照します。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No.1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上位表示される店舗の共通点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Top 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476756"/>
            <a:ext cx="3496056" cy="233857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41348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📸  プロ品質の写真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89988"/>
            <a:ext cx="33131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000"/>
                </a:solidFill>
              </a:rPr>
              <a:t>20枚以上・定期更新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1476756"/>
            <a:ext cx="3496056" cy="233857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4464" y="1641348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⭐  高評価口コミ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4464" y="2189988"/>
            <a:ext cx="33131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000"/>
                </a:solidFill>
              </a:rPr>
              <a:t>平均4.0以上・50件以上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43088" y="1476756"/>
            <a:ext cx="3496056" cy="233857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680" y="1641348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💬  オーナー返信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7680" y="2189988"/>
            <a:ext cx="33131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000"/>
                </a:solidFill>
              </a:rPr>
              <a:t>全ての口コミに返信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3952494"/>
            <a:ext cx="3496056" cy="233857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17086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📝  最新情報の投稿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665726"/>
            <a:ext cx="33131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000"/>
                </a:solidFill>
              </a:rPr>
              <a:t>週1回以上のGBP投稿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9872" y="3952494"/>
            <a:ext cx="3496056" cy="233857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4464" y="4117086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✅  正確な基本情報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4464" y="4665726"/>
            <a:ext cx="33131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000"/>
                </a:solidFill>
              </a:rPr>
              <a:t>住所・電話・営業時間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43088" y="3952494"/>
            <a:ext cx="3496056" cy="233857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7680" y="4117086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🗓  Q&amp;A・属性管理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7680" y="4665726"/>
            <a:ext cx="33131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000"/>
                </a:solidFill>
              </a:rPr>
              <a:t>キーワードを含めて充実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E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extBox 15"/>
          <p:cNvSpPr txBox="1"/>
          <p:nvPr/>
        </p:nvSpPr>
        <p:spPr>
          <a:xfrm>
            <a:off x="3412906" y="54864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0" b="1">
                <a:solidFill>
                  <a:srgbClr val="004A58"/>
                </a:solidFill>
              </a:rPr>
              <a:t>TRUST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68712" y="128016"/>
            <a:ext cx="1737360" cy="347472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22234"/>
                </a:solidFill>
              </a:rPr>
              <a:t>Psychology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64592"/>
            <a:ext cx="11237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口コミが来店を後押しする理由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86968"/>
            <a:ext cx="112379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C000"/>
                </a:solidFill>
              </a:rPr>
              <a:t>多くの高評価な口コミが、お客様の「失敗しない」という安心感を生み出します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554480"/>
            <a:ext cx="3526536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755648"/>
            <a:ext cx="3334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9A9A"/>
                </a:solidFill>
              </a:rPr>
              <a:t>安心感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95728"/>
            <a:ext cx="3334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2234"/>
                </a:solidFill>
              </a:rPr>
              <a:t>「みんなが良いと言っている」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事実が不安を取り除き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来店へのハードルを下げます。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1208" y="1554480"/>
            <a:ext cx="3526536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2648" y="1755648"/>
            <a:ext cx="3334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9A9A"/>
                </a:solidFill>
              </a:rPr>
              <a:t>信頼性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8" y="2395728"/>
            <a:ext cx="3334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2234"/>
                </a:solidFill>
              </a:rPr>
              <a:t>実際の体験談は広告より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信頼される、星評価が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高いほど選ばれやすい。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554480"/>
            <a:ext cx="3526536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8640" y="1755648"/>
            <a:ext cx="3334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9A9A"/>
                </a:solidFill>
              </a:rPr>
              <a:t>社会的証明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640" y="2395728"/>
            <a:ext cx="3334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2234"/>
                </a:solidFill>
              </a:rPr>
              <a:t>多くの人が選んでいる実績が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「自分も行くべきだ」という</a:t>
            </a:r>
          </a:p>
          <a:p>
            <a:pPr algn="ctr"/>
            <a:r>
              <a:rPr sz="1300" b="0">
                <a:solidFill>
                  <a:srgbClr val="122234"/>
                </a:solidFill>
              </a:rPr>
              <a:t>心理を生み出します。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31801" cy="6858000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20040"/>
            <a:ext cx="4144243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AIを活用した</a:t>
            </a:r>
          </a:p>
          <a:p>
            <a:pPr algn="l"/>
            <a:r>
              <a:rPr sz="3000" b="1">
                <a:solidFill>
                  <a:srgbClr val="FFFFFF"/>
                </a:solidFill>
              </a:rPr>
              <a:t>口コミ返信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31720"/>
            <a:ext cx="414424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C000"/>
                </a:solidFill>
              </a:rPr>
              <a:t>口コミの返信文章に</a:t>
            </a:r>
          </a:p>
          <a:p>
            <a:pPr algn="l"/>
            <a:r>
              <a:rPr sz="1400" b="0">
                <a:solidFill>
                  <a:srgbClr val="F5C000"/>
                </a:solidFill>
              </a:rPr>
              <a:t>迷ったことはありませんか？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-182880" y="2176272"/>
            <a:ext cx="5119359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971800"/>
            <a:ext cx="41442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▶ ボタン1つで返信文章を自動生成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520440"/>
            <a:ext cx="41442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▶ AIが口調を複数提案し、選ぶだけ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069080"/>
            <a:ext cx="41442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▶ 返信の手間を削減し、コアに集中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9728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 Reply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5580" y="182880"/>
            <a:ext cx="6837883" cy="204216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8460" y="274320"/>
            <a:ext cx="65635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🤖  AI生成返信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8460" y="795528"/>
            <a:ext cx="6563563" cy="1274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E8E5"/>
                </a:solidFill>
              </a:rPr>
              <a:t>ボタン1つで返信文章を自動生成</a:t>
            </a:r>
          </a:p>
          <a:p>
            <a:pPr algn="l"/>
            <a:r>
              <a:rPr sz="1300" b="0">
                <a:solidFill>
                  <a:srgbClr val="C0E8E5"/>
                </a:solidFill>
              </a:rPr>
              <a:t>口調・絵文字も自由にカスタマイズ可能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5580" y="2371344"/>
            <a:ext cx="6837883" cy="204216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8460" y="2462784"/>
            <a:ext cx="65635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⚡  スピード対応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8460" y="2983992"/>
            <a:ext cx="6563563" cy="1274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E8E5"/>
                </a:solidFill>
              </a:rPr>
              <a:t>新着口コミをLINE通知で即キャッチ</a:t>
            </a:r>
          </a:p>
          <a:p>
            <a:pPr algn="l"/>
            <a:r>
              <a:rPr sz="1300" b="0">
                <a:solidFill>
                  <a:srgbClr val="C0E8E5"/>
                </a:solidFill>
              </a:rPr>
              <a:t>見逃しゼロで迅速な対応が可能に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5580" y="4559808"/>
            <a:ext cx="6837883" cy="204216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8460" y="4651248"/>
            <a:ext cx="65635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分析レポート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8460" y="5172456"/>
            <a:ext cx="6563563" cy="1274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E8E5"/>
                </a:solidFill>
              </a:rPr>
              <a:t>口コミの傾向・評価推移を自動分析</a:t>
            </a:r>
          </a:p>
          <a:p>
            <a:pPr algn="l"/>
            <a:r>
              <a:rPr sz="1300" b="0">
                <a:solidFill>
                  <a:srgbClr val="C0E8E5"/>
                </a:solidFill>
              </a:rPr>
              <a:t>改善すべきポイントが一目でわかる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POST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投稿は一気に準備できます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Auto Post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" y="1458468"/>
            <a:ext cx="11173968" cy="640080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68196"/>
            <a:ext cx="10716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"SNSの更新がなかなか続かない" — そんなオーナー様へ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253996"/>
            <a:ext cx="3496056" cy="4128516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36876"/>
            <a:ext cx="3340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AIで最適投稿を作成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076956"/>
            <a:ext cx="3340608" cy="312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店舗情報・季節・イベントを踏まえた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投稿文をAIが自動生成します。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忙しいオーナー様の手間を大幅削減。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872" y="2253996"/>
            <a:ext cx="3496056" cy="412851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7032" y="2436876"/>
            <a:ext cx="3340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1ヶ月分を一括予約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7032" y="3076956"/>
            <a:ext cx="3340608" cy="312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投稿スケジュール機能を使えば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一度に1ヶ月分の投稿を予約投稿可能。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まとめて準備して後は自動更新。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3088" y="2253996"/>
            <a:ext cx="3496056" cy="41285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0248" y="2436876"/>
            <a:ext cx="3340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写真・絵文字も自由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0248" y="3076956"/>
            <a:ext cx="3340608" cy="312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口調・絵文字・写真の組み合わせを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自由にカスタマイズ。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店舗の個性を出した投稿が可能です。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" y="6327648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5E6E"/>
                </a:solidFill>
              </a:rPr>
              <a:t>弊社のMEO対策は、オーナー様の手間を最大限お手伝いします。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∞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継続的な管理が順位を守る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522476"/>
            <a:ext cx="3496056" cy="449427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23644"/>
            <a:ext cx="3340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月次アクション管理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391156"/>
            <a:ext cx="3340608" cy="3488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毎月の投稿計画・口コミ対応・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プロフィール更新をカレンダーで管理。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抜け漏れなく継続できます。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1522476"/>
            <a:ext cx="3496056" cy="449427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7032" y="1723644"/>
            <a:ext cx="3340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アルゴリズム対応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7032" y="2391156"/>
            <a:ext cx="3340608" cy="3488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Googleのアップデートを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常時モニタリングし、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最適な設定に随時調整します。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43088" y="1522476"/>
            <a:ext cx="3496056" cy="4494276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1723644"/>
            <a:ext cx="3340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競合モニタリング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391156"/>
            <a:ext cx="3340608" cy="3488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競合店舗の順位・口コミ動向を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定期チェック。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差別化戦略を継続的に提案します。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6263640"/>
            <a:ext cx="112379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586C"/>
                </a:solidFill>
              </a:rPr>
              <a:t>一度上がった順位を守るには、継続的な専門知識と管理が不可欠です。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UP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目に見える、閲覧数の増加 – 成長するMEO対策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458468"/>
            <a:ext cx="7069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キーワードが上位でも、閲覧数が増えなければ意味がありません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" y="2043684"/>
            <a:ext cx="4022354" cy="438454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208276"/>
            <a:ext cx="34129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000"/>
                </a:solidFill>
              </a:rPr>
              <a:t>成長するMEO対策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866644"/>
            <a:ext cx="341290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毎月の閲覧数をグラフ化し、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前年と比較することで成長を可視化。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オーナー様の「本当に効果があるのか？」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という不安に、データで答えます。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弊社MEO対策に自信があるからこそ、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積み重なった実績をお見せできます。</a:t>
            </a:r>
          </a:p>
        </p:txBody>
      </p:sp>
      <p:sp>
        <p:nvSpPr>
          <p:cNvPr id="13" name="Rectangle 12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5171297" y="4758537"/>
            <a:ext cx="508604" cy="165140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5171297" y="5377815"/>
            <a:ext cx="228872" cy="103212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8145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1月</a:t>
            </a:r>
          </a:p>
        </p:txBody>
      </p:sp>
      <p:sp>
        <p:nvSpPr>
          <p:cNvPr id="16" name="Rectangle 15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5716478" y="4552111"/>
            <a:ext cx="508604" cy="185783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5716478" y="5253959"/>
            <a:ext cx="228872" cy="115598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43326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2月</a:t>
            </a:r>
          </a:p>
        </p:txBody>
      </p:sp>
      <p:sp>
        <p:nvSpPr>
          <p:cNvPr id="19" name="Rectangle 18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6261658" y="4345686"/>
            <a:ext cx="508604" cy="206425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6261658" y="5088818"/>
            <a:ext cx="228872" cy="132112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8506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3月</a:t>
            </a:r>
          </a:p>
        </p:txBody>
      </p:sp>
      <p:sp>
        <p:nvSpPr>
          <p:cNvPr id="22" name="Rectangle 21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6806839" y="4139260"/>
            <a:ext cx="508604" cy="227068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6806839" y="4964963"/>
            <a:ext cx="228872" cy="14449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3687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4月</a:t>
            </a:r>
          </a:p>
        </p:txBody>
      </p:sp>
      <p:sp>
        <p:nvSpPr>
          <p:cNvPr id="25" name="Rectangle 24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7352019" y="3932834"/>
            <a:ext cx="508604" cy="247710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7352019" y="4841107"/>
            <a:ext cx="228872" cy="156883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8867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5月</a:t>
            </a:r>
          </a:p>
        </p:txBody>
      </p:sp>
      <p:sp>
        <p:nvSpPr>
          <p:cNvPr id="28" name="Rectangle 27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7897200" y="3726408"/>
            <a:ext cx="508604" cy="268353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7897200" y="4758537"/>
            <a:ext cx="228872" cy="165140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4048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6月</a:t>
            </a:r>
          </a:p>
        </p:txBody>
      </p:sp>
      <p:sp>
        <p:nvSpPr>
          <p:cNvPr id="31" name="Rectangle 30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8442380" y="3519982"/>
            <a:ext cx="508604" cy="288996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8442380" y="4634682"/>
            <a:ext cx="228872" cy="177526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9228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7月</a:t>
            </a:r>
          </a:p>
        </p:txBody>
      </p:sp>
      <p:sp>
        <p:nvSpPr>
          <p:cNvPr id="34" name="Rectangle 33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8987561" y="3437412"/>
            <a:ext cx="508604" cy="297253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8987561" y="4552111"/>
            <a:ext cx="228872" cy="185783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4409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8月</a:t>
            </a:r>
          </a:p>
        </p:txBody>
      </p:sp>
      <p:sp>
        <p:nvSpPr>
          <p:cNvPr id="37" name="Rectangle 36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9532741" y="3189701"/>
            <a:ext cx="508604" cy="322024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9532741" y="4428256"/>
            <a:ext cx="228872" cy="198168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59589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9月</a:t>
            </a:r>
          </a:p>
        </p:txBody>
      </p:sp>
      <p:sp>
        <p:nvSpPr>
          <p:cNvPr id="40" name="Rectangle 39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10077922" y="2900705"/>
            <a:ext cx="508604" cy="350923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10077922" y="4345686"/>
            <a:ext cx="228872" cy="206425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04770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10月</a:t>
            </a:r>
          </a:p>
        </p:txBody>
      </p:sp>
      <p:sp>
        <p:nvSpPr>
          <p:cNvPr id="43" name="Rectangle 42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10623102" y="2611709"/>
            <a:ext cx="508604" cy="379823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10623102" y="4221830"/>
            <a:ext cx="228872" cy="218811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9950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11月</a:t>
            </a:r>
          </a:p>
        </p:txBody>
      </p:sp>
      <p:sp>
        <p:nvSpPr>
          <p:cNvPr id="46" name="Rectangle 45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11168283" y="2281428"/>
            <a:ext cx="508604" cy="412851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16200000" scaled="0"/>
          </a:gradFill>
          <a:xfrm>
            <a:off x="11168283" y="4139260"/>
            <a:ext cx="228872" cy="227068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95131" y="6428232"/>
            <a:ext cx="67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86C"/>
                </a:solidFill>
              </a:rPr>
              <a:t>12月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71297" y="4428256"/>
            <a:ext cx="6542166" cy="2286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27440" y="41996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000"/>
                </a:solidFill>
              </a:rPr>
              <a:t>前年比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#1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キーワード別の順位チェック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458468"/>
            <a:ext cx="73133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検索キーワードごとに順位を可視化し、戦略的にMEO対策を実施します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" y="2034540"/>
            <a:ext cx="640080" cy="834847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071116"/>
            <a:ext cx="603504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000"/>
                </a:solidFill>
              </a:rPr>
              <a:t>1位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6" y="2071116"/>
            <a:ext cx="4631801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234"/>
                </a:solidFill>
              </a:rPr>
              <a:t>近くの美容院</a:t>
            </a:r>
          </a:p>
        </p:txBody>
      </p:sp>
      <p:sp>
        <p:nvSpPr>
          <p:cNvPr id="13" name="Rectangle 12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5400000" scaled="0"/>
          </a:gradFill>
          <a:xfrm>
            <a:off x="6329476" y="2215819"/>
            <a:ext cx="5642762" cy="47228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41864" y="2052828"/>
            <a:ext cx="1280160" cy="779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4586C"/>
                </a:solidFill>
              </a:rPr>
              <a:t>月間2万回検索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" y="2979115"/>
            <a:ext cx="640080" cy="834847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3015691"/>
            <a:ext cx="603504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000"/>
                </a:solidFill>
              </a:rPr>
              <a:t>2位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3896" y="3015691"/>
            <a:ext cx="4631801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234"/>
                </a:solidFill>
              </a:rPr>
              <a:t>渋谷 カフェ</a:t>
            </a:r>
          </a:p>
        </p:txBody>
      </p:sp>
      <p:sp>
        <p:nvSpPr>
          <p:cNvPr id="18" name="Rectangle 17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5400000" scaled="0"/>
          </a:gradFill>
          <a:xfrm>
            <a:off x="6329476" y="3160395"/>
            <a:ext cx="4702302" cy="47228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41864" y="2997403"/>
            <a:ext cx="1280160" cy="779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4586C"/>
                </a:solidFill>
              </a:rPr>
              <a:t>月間1,258回検索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" y="3923690"/>
            <a:ext cx="640080" cy="834847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960266"/>
            <a:ext cx="603504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000"/>
                </a:solidFill>
              </a:rPr>
              <a:t>3位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6" y="3960266"/>
            <a:ext cx="4631801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234"/>
                </a:solidFill>
              </a:rPr>
              <a:t>新宿 ランチ</a:t>
            </a:r>
          </a:p>
        </p:txBody>
      </p:sp>
      <p:sp>
        <p:nvSpPr>
          <p:cNvPr id="23" name="Rectangle 22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5400000" scaled="0"/>
          </a:gradFill>
          <a:xfrm>
            <a:off x="6329476" y="4104970"/>
            <a:ext cx="3761841" cy="47228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41864" y="3941978"/>
            <a:ext cx="1280160" cy="779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4586C"/>
                </a:solidFill>
              </a:rPr>
              <a:t>月間883回検索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" y="4868265"/>
            <a:ext cx="640080" cy="834847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904841"/>
            <a:ext cx="603504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000"/>
                </a:solidFill>
              </a:rPr>
              <a:t>4位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3896" y="4904841"/>
            <a:ext cx="4631801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234"/>
                </a:solidFill>
              </a:rPr>
              <a:t>池袋 居酒屋</a:t>
            </a:r>
          </a:p>
        </p:txBody>
      </p:sp>
      <p:sp>
        <p:nvSpPr>
          <p:cNvPr id="28" name="Rectangle 27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5400000" scaled="0"/>
          </a:gradFill>
          <a:xfrm>
            <a:off x="6329476" y="5049545"/>
            <a:ext cx="2821381" cy="47228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41864" y="4886553"/>
            <a:ext cx="1280160" cy="779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4586C"/>
                </a:solidFill>
              </a:rPr>
              <a:t>月間856回検索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" y="5812840"/>
            <a:ext cx="640080" cy="834847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5849416"/>
            <a:ext cx="603504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000"/>
                </a:solidFill>
              </a:rPr>
              <a:t>5位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3896" y="5849416"/>
            <a:ext cx="4631801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234"/>
                </a:solidFill>
              </a:rPr>
              <a:t>品川 restaurants</a:t>
            </a:r>
          </a:p>
        </p:txBody>
      </p:sp>
      <p:sp>
        <p:nvSpPr>
          <p:cNvPr id="33" name="Rectangle 32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5400000" scaled="0"/>
          </a:gradFill>
          <a:xfrm>
            <a:off x="6329476" y="5994120"/>
            <a:ext cx="1880920" cy="47228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1864" y="5831128"/>
            <a:ext cx="1280160" cy="779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4586C"/>
                </a:solidFill>
              </a:rPr>
              <a:t>月間792回検索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E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TextBox 30"/>
          <p:cNvSpPr txBox="1"/>
          <p:nvPr/>
        </p:nvSpPr>
        <p:spPr>
          <a:xfrm>
            <a:off x="3900464" y="54864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004A58"/>
                </a:solidFill>
              </a:rPr>
              <a:t>UP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68712" y="128016"/>
            <a:ext cx="1737360" cy="347472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22234"/>
                </a:solidFill>
              </a:rPr>
              <a:t>Action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64592"/>
            <a:ext cx="112379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電話・ルート検索・来店数の変化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969264"/>
            <a:ext cx="112379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C000"/>
                </a:solidFill>
              </a:rPr>
              <a:t>信頼できる店舗になることで、お客様からのアクションが劇的に増加します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691640"/>
            <a:ext cx="2590038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792224"/>
            <a:ext cx="240715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9A9A"/>
                </a:solidFill>
              </a:rPr>
              <a:t>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95728"/>
            <a:ext cx="240715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234"/>
                </a:solidFill>
              </a:rPr>
              <a:t>電話問い合わせ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944368"/>
            <a:ext cx="24071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86C"/>
                </a:solidFill>
              </a:rPr>
              <a:t>上位表示で</a:t>
            </a:r>
          </a:p>
          <a:p>
            <a:pPr algn="ctr"/>
            <a:r>
              <a:rPr sz="1200" b="0">
                <a:solidFill>
                  <a:srgbClr val="44586C"/>
                </a:solidFill>
              </a:rPr>
              <a:t>タップして通話が急増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886200"/>
            <a:ext cx="253517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8800"/>
                </a:solidFill>
              </a:rPr>
              <a:t>+180%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681728"/>
            <a:ext cx="24071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平均増加率（参考値）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4710" y="1691640"/>
            <a:ext cx="2590038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6150" y="1792224"/>
            <a:ext cx="240715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9A9A"/>
                </a:solidFill>
              </a:rPr>
              <a:t>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6150" y="2395728"/>
            <a:ext cx="240715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234"/>
                </a:solidFill>
              </a:rPr>
              <a:t>ルート検索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944368"/>
            <a:ext cx="24071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86C"/>
                </a:solidFill>
              </a:rPr>
              <a:t>来店意欲の高い</a:t>
            </a:r>
          </a:p>
          <a:p>
            <a:pPr algn="ctr"/>
            <a:r>
              <a:rPr sz="1200" b="0">
                <a:solidFill>
                  <a:srgbClr val="44586C"/>
                </a:solidFill>
              </a:rPr>
              <a:t>ユーザーがルート案内開始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2142" y="3886200"/>
            <a:ext cx="253517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8800"/>
                </a:solidFill>
              </a:rPr>
              <a:t>+220%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6150" y="4681728"/>
            <a:ext cx="24071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平均増加率（参考値）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4204" y="1691640"/>
            <a:ext cx="2590038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5644" y="1792224"/>
            <a:ext cx="240715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9A9A"/>
                </a:solidFill>
              </a:rPr>
              <a:t>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5644" y="2395728"/>
            <a:ext cx="240715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234"/>
                </a:solidFill>
              </a:rPr>
              <a:t>来店客数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5644" y="2944368"/>
            <a:ext cx="24071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86C"/>
                </a:solidFill>
              </a:rPr>
              <a:t>口コミ・写真が</a:t>
            </a:r>
          </a:p>
          <a:p>
            <a:pPr algn="ctr"/>
            <a:r>
              <a:rPr sz="1200" b="0">
                <a:solidFill>
                  <a:srgbClr val="44586C"/>
                </a:solidFill>
              </a:rPr>
              <a:t>来店の後押しに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1636" y="3886200"/>
            <a:ext cx="253517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8800"/>
                </a:solidFill>
              </a:rPr>
              <a:t>+150%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5644" y="4681728"/>
            <a:ext cx="24071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平均増加率（参考値）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3698" y="1691640"/>
            <a:ext cx="2590038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5138" y="1792224"/>
            <a:ext cx="240715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9A9A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5138" y="2395728"/>
            <a:ext cx="240715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234"/>
                </a:solidFill>
              </a:rPr>
              <a:t>WEBサイト誘導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5138" y="2944368"/>
            <a:ext cx="24071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86C"/>
                </a:solidFill>
              </a:rPr>
              <a:t>プロフィールからの</a:t>
            </a:r>
          </a:p>
          <a:p>
            <a:pPr algn="ctr"/>
            <a:r>
              <a:rPr sz="1200" b="0">
                <a:solidFill>
                  <a:srgbClr val="44586C"/>
                </a:solidFill>
              </a:rPr>
              <a:t>クリックが増加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1130" y="3886200"/>
            <a:ext cx="253517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8800"/>
                </a:solidFill>
              </a:rPr>
              <a:t>+130%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4681728"/>
            <a:ext cx="24071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586C"/>
                </a:solidFill>
              </a:rPr>
              <a:t>平均増加率（参考値）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GROW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グラフで分かる、1年間の成長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431036"/>
            <a:ext cx="670392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86C"/>
                </a:solidFill>
              </a:rPr>
              <a:t>3年以上伸び続けているのか？MEO対策の効果が出ているのか？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" y="2071116"/>
            <a:ext cx="4875580" cy="440283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208276"/>
            <a:ext cx="438802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C000"/>
                </a:solidFill>
              </a:rPr>
              <a:t>毎月の閲覧数をグラフ化</a:t>
            </a:r>
          </a:p>
          <a:p>
            <a:pPr algn="l"/>
            <a:r>
              <a:rPr sz="1700" b="1">
                <a:solidFill>
                  <a:srgbClr val="F5C000"/>
                </a:solidFill>
              </a:rPr>
              <a:t>前年と比較して成長を可視化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58084"/>
            <a:ext cx="438802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毎月の閲覧数をグラフ化し、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前年と比較することで成長を可視化。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オーナー様の「本当に効果があるのか？」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という不安に、データで答えます。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弊社MEO対策に自信があるからこそ、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積み重なった実績をお見せできます。</a:t>
            </a:r>
          </a:p>
        </p:txBody>
      </p:sp>
      <p:sp>
        <p:nvSpPr>
          <p:cNvPr id="13" name="Rectangle 12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6146413" y="4758537"/>
            <a:ext cx="436488" cy="165140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1549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1月</a:t>
            </a:r>
          </a:p>
        </p:txBody>
      </p:sp>
      <p:sp>
        <p:nvSpPr>
          <p:cNvPr id="15" name="Rectangle 14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6610334" y="4552111"/>
            <a:ext cx="436488" cy="185783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5470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2月</a:t>
            </a:r>
          </a:p>
        </p:txBody>
      </p:sp>
      <p:sp>
        <p:nvSpPr>
          <p:cNvPr id="17" name="Rectangle 16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7074255" y="4345686"/>
            <a:ext cx="436488" cy="206425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9391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3月</a:t>
            </a:r>
          </a:p>
        </p:txBody>
      </p:sp>
      <p:sp>
        <p:nvSpPr>
          <p:cNvPr id="19" name="Rectangle 18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7538176" y="4139260"/>
            <a:ext cx="436488" cy="227068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3312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4月</a:t>
            </a:r>
          </a:p>
        </p:txBody>
      </p:sp>
      <p:sp>
        <p:nvSpPr>
          <p:cNvPr id="21" name="Rectangle 20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8002097" y="3932834"/>
            <a:ext cx="436488" cy="247710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47233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5月</a:t>
            </a:r>
          </a:p>
        </p:txBody>
      </p:sp>
      <p:sp>
        <p:nvSpPr>
          <p:cNvPr id="23" name="Rectangle 22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8466018" y="3726408"/>
            <a:ext cx="436488" cy="268353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1154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6月</a:t>
            </a:r>
          </a:p>
        </p:txBody>
      </p:sp>
      <p:sp>
        <p:nvSpPr>
          <p:cNvPr id="25" name="Rectangle 24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8929938" y="3519982"/>
            <a:ext cx="436488" cy="288996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75074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7月</a:t>
            </a:r>
          </a:p>
        </p:txBody>
      </p:sp>
      <p:sp>
        <p:nvSpPr>
          <p:cNvPr id="27" name="Rectangle 26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9393859" y="3437412"/>
            <a:ext cx="436488" cy="297253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8995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8月</a:t>
            </a:r>
          </a:p>
        </p:txBody>
      </p:sp>
      <p:sp>
        <p:nvSpPr>
          <p:cNvPr id="29" name="Rectangle 28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9857780" y="3189701"/>
            <a:ext cx="436488" cy="322024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916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9月</a:t>
            </a:r>
          </a:p>
        </p:txBody>
      </p:sp>
      <p:sp>
        <p:nvSpPr>
          <p:cNvPr id="31" name="Rectangle 30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10321701" y="2900705"/>
            <a:ext cx="436488" cy="350923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66837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10月</a:t>
            </a:r>
          </a:p>
        </p:txBody>
      </p:sp>
      <p:sp>
        <p:nvSpPr>
          <p:cNvPr id="33" name="Rectangle 32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10785622" y="2611709"/>
            <a:ext cx="436488" cy="379823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30758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11月</a:t>
            </a:r>
          </a:p>
        </p:txBody>
      </p:sp>
      <p:sp>
        <p:nvSpPr>
          <p:cNvPr id="35" name="Rectangle 34"/>
          <p:cNvSpPr/>
          <p:nvPr/>
        </p:nvSpPr>
        <p:spPr>
          <a:gradFill>
            <a:gsLst>
              <a:gs pos="0">
                <a:srgbClr val="009A9A"/>
              </a:gs>
              <a:gs pos="100000">
                <a:srgbClr val="00C4CC"/>
              </a:gs>
            </a:gsLst>
            <a:lin ang="16200000" scaled="0"/>
          </a:gradFill>
          <a:xfrm>
            <a:off x="11249543" y="2281428"/>
            <a:ext cx="436488" cy="412851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94679" y="6428232"/>
            <a:ext cx="564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586C"/>
                </a:solidFill>
              </a:rPr>
              <a:t>12月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→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導入前後の比較イメージ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Before / After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" y="1458468"/>
            <a:ext cx="5765292" cy="4997196"/>
          </a:xfrm>
          <a:prstGeom prst="roundRect">
            <a:avLst/>
          </a:prstGeom>
          <a:solidFill>
            <a:srgbClr val="C8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641348"/>
            <a:ext cx="54452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4586C"/>
                </a:solidFill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18588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86C"/>
                </a:solidFill>
              </a:rPr>
              <a:t>×  Googleマップを知らない客しか来ない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985516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86C"/>
                </a:solidFill>
              </a:rPr>
              <a:t>×  口コミがなく新規客が来店しない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552444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86C"/>
                </a:solidFill>
              </a:rPr>
              <a:t>×  競合店に検索で負けている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119372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86C"/>
                </a:solidFill>
              </a:rPr>
              <a:t>×  写真が少なく魅力が伝わらない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686300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86C"/>
                </a:solidFill>
              </a:rPr>
              <a:t>×  情報が古いまま放置されている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6500" y="1458468"/>
            <a:ext cx="5765292" cy="499719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1641348"/>
            <a:ext cx="54452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C000"/>
                </a:solidFill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2418588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Googleマップを見て来ました！の声が増加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2985516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高評価口コミで新規客が続々来店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552444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検索TOP3に入り競合に差をつける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4119372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魅力的な写真で来店意欲が高まる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4686300"/>
            <a:ext cx="54452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◎  最新情報で信頼感が格段に向上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WHY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なぜ安い業者では駄目なのか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495044"/>
            <a:ext cx="3496056" cy="479602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659636"/>
            <a:ext cx="3340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アルゴリズムは常に変化する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336292"/>
            <a:ext cx="33406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Googleのアルゴリズムは頻繁に更新されます。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安価な業者は最新動向への対応が遅く、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一時的な効果しか得られないことがほとんどです。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5696712"/>
            <a:ext cx="3340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000"/>
                </a:solidFill>
              </a:rPr>
              <a:t>時間だけ取られ、成果が出ない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872" y="1495044"/>
            <a:ext cx="3496056" cy="479602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7032" y="1659636"/>
            <a:ext cx="3340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本業との両立が困難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7032" y="2336292"/>
            <a:ext cx="33406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継続的なMEO運用には専門知識と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毎日の管理工数が必要です。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自社対応では本業に支障が出てしまいます。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7032" y="5696712"/>
            <a:ext cx="3340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000"/>
                </a:solidFill>
              </a:rPr>
              <a:t>結果、MEOが止まってしまう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3088" y="1495044"/>
            <a:ext cx="3496056" cy="479602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0248" y="1659636"/>
            <a:ext cx="3340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継続的な知見・実績が必要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0248" y="2336292"/>
            <a:ext cx="33406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成功するMEO対策は経験と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蓄積データに基づく戦略が不可欠です。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低コストでは必要なサポートが得られません。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0248" y="5696712"/>
            <a:ext cx="3340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000"/>
                </a:solidFill>
              </a:rPr>
              <a:t>積み重ねのないMEOに意味はない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PLAN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弊社MEO対策の特長・メリット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Our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458468"/>
            <a:ext cx="3496056" cy="236143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23060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📊  完全可視化レポート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08276"/>
            <a:ext cx="3313176" cy="158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カレンダー・グラフで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毎月の成果を数値で報告。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「効果が見えない」を解消します。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1458468"/>
            <a:ext cx="3496056" cy="236143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4464" y="1623060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🤖  AI投稿し放題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4464" y="2208276"/>
            <a:ext cx="3313176" cy="158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AIで投稿文を自動生成。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キーワード戦略も含めて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最適な投稿を量産できます。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43088" y="1458468"/>
            <a:ext cx="3496056" cy="236143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680" y="1623060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📅  1ヶ月一括予約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7680" y="2208276"/>
            <a:ext cx="3313176" cy="158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投稿スケジュールを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一括で予約可能。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運用の手間を最小化します。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3957066"/>
            <a:ext cx="3496056" cy="236143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21658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🔔  LINE即時通知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706874"/>
            <a:ext cx="3313176" cy="158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新着口コミをLINEで即通知。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見逃しゼロで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迅速な返信対応が可能に。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9872" y="3957066"/>
            <a:ext cx="3496056" cy="236143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4464" y="4121658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🔍  キーワード戦略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4464" y="4706874"/>
            <a:ext cx="3313176" cy="158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業種＋地域キーワードを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複数軸で分析し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上位表示を狙います。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43088" y="3957066"/>
            <a:ext cx="3496056" cy="236143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7680" y="4121658"/>
            <a:ext cx="3313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💬  AI口コミ返信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7680" y="4706874"/>
            <a:ext cx="3313176" cy="158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ボタン1つで返信文を自動生成。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口調・絵文字も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自由にカスタマイズ可能。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GOAL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MEO対策で期待できる成果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458468"/>
            <a:ext cx="5312664" cy="237972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6484"/>
            <a:ext cx="5084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CCCA"/>
                </a:solidFill>
              </a:rPr>
              <a:t>検索露出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52244"/>
            <a:ext cx="5166360" cy="132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C000"/>
                </a:solidFill>
              </a:rPr>
              <a:t>TOP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35274"/>
            <a:ext cx="5084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以内表示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344418"/>
            <a:ext cx="5129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D6D4"/>
                </a:solidFill>
              </a:rPr>
              <a:t>地域キーワードで上位獲得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58468"/>
            <a:ext cx="5312664" cy="237972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586484"/>
            <a:ext cx="5084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CCCA"/>
                </a:solidFill>
              </a:rPr>
              <a:t>認知拡大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1952244"/>
            <a:ext cx="5166360" cy="132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C000"/>
                </a:solidFill>
              </a:rPr>
              <a:t>3倍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335274"/>
            <a:ext cx="5084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のビュー数増加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344418"/>
            <a:ext cx="5129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D6D4"/>
                </a:solidFill>
              </a:rPr>
              <a:t>月間閲覧数が平均3倍に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4002786"/>
            <a:ext cx="5312664" cy="237972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130802"/>
            <a:ext cx="5084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CCCA"/>
                </a:solidFill>
              </a:rPr>
              <a:t>集客強化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96562"/>
            <a:ext cx="5166360" cy="132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C000"/>
                </a:solidFill>
              </a:rPr>
              <a:t>2倍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5879592"/>
            <a:ext cx="5084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の来店アクション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5888736"/>
            <a:ext cx="5129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D6D4"/>
                </a:solidFill>
              </a:rPr>
              <a:t>電話・ルート検索が急増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002786"/>
            <a:ext cx="5312664" cy="2379726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4130802"/>
            <a:ext cx="5084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CCCA"/>
                </a:solidFill>
              </a:rPr>
              <a:t>信頼構築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4496562"/>
            <a:ext cx="5166360" cy="132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C000"/>
                </a:solidFill>
              </a:rPr>
              <a:t>★4.0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5879592"/>
            <a:ext cx="5084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以上の維持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888736"/>
            <a:ext cx="5129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D6D4"/>
                </a:solidFill>
              </a:rPr>
              <a:t>口コミ管理で評価を維持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4875580" y="96012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0" b="1">
                <a:solidFill>
                  <a:srgbClr val="D8F0EF"/>
                </a:solidFill>
              </a:rPr>
              <a:t>VS</a:t>
            </a:r>
          </a:p>
        </p:txBody>
      </p:sp>
      <p:sp>
        <p:nvSpPr>
          <p:cNvPr id="2" name="Rectangle 1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0" y="0"/>
            <a:ext cx="12188952" cy="1234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28000">
            <a:off x="-228600" y="1223468"/>
            <a:ext cx="12646152" cy="59436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3876"/>
            <a:ext cx="64008" cy="5500116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56032"/>
            <a:ext cx="9518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他社MEOとの圧倒的な違い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8712" y="91440"/>
            <a:ext cx="1737360" cy="347472"/>
          </a:xfrm>
          <a:prstGeom prst="round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676656" y="1421892"/>
            <a:ext cx="2759202" cy="84658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gradFill>
            <a:gsLst>
              <a:gs pos="0">
                <a:srgbClr val="0A182C"/>
              </a:gs>
              <a:gs pos="100000">
                <a:srgbClr val="005E6E"/>
              </a:gs>
            </a:gsLst>
            <a:lin ang="5400000" scaled="0"/>
          </a:gradFill>
          <a:xfrm>
            <a:off x="3435858" y="1421892"/>
            <a:ext cx="4138803" cy="84658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gradFill>
            <a:gsLst>
              <a:gs pos="0">
                <a:srgbClr val="005E6E"/>
              </a:gs>
              <a:gs pos="100000">
                <a:srgbClr val="009A9A"/>
              </a:gs>
            </a:gsLst>
            <a:lin ang="5400000" scaled="0"/>
          </a:gradFill>
          <a:xfrm>
            <a:off x="7574661" y="1421892"/>
            <a:ext cx="4138803" cy="84658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476756"/>
            <a:ext cx="2576322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比較項目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298" y="1476756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他社MEO対策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6101" y="1476756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当社MEO対策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2295906"/>
            <a:ext cx="2759202" cy="846582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5858" y="2295906"/>
            <a:ext cx="4138803" cy="846582"/>
          </a:xfrm>
          <a:prstGeom prst="rect">
            <a:avLst/>
          </a:prstGeom>
          <a:solidFill>
            <a:srgbClr val="F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74661" y="2295906"/>
            <a:ext cx="4138803" cy="84658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350770"/>
            <a:ext cx="2576322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可視化・透明性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2350770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✕  不透明・レポート提出のみ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6101" y="2350770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◎  完全可視化（カレンダー・グラフ）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3169920"/>
            <a:ext cx="2759202" cy="846582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35858" y="3169920"/>
            <a:ext cx="4138803" cy="846582"/>
          </a:xfrm>
          <a:prstGeom prst="rect">
            <a:avLst/>
          </a:prstGeom>
          <a:solidFill>
            <a:srgbClr val="F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74661" y="3169920"/>
            <a:ext cx="4138803" cy="84658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224784"/>
            <a:ext cx="2576322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戦略性・運用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7298" y="3224784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△  作業重視（投稿代行がメイン）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6101" y="3224784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◎  AIで投稿し放題・キーワード戦略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" y="4043934"/>
            <a:ext cx="2759202" cy="846582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35858" y="4043934"/>
            <a:ext cx="4138803" cy="846582"/>
          </a:xfrm>
          <a:prstGeom prst="rect">
            <a:avLst/>
          </a:prstGeom>
          <a:solidFill>
            <a:srgbClr val="F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74661" y="4043934"/>
            <a:ext cx="4138803" cy="84658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098798"/>
            <a:ext cx="2576322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AIの精度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7298" y="4098798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△  簡易な文章のみ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6101" y="4098798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◎  絵文字・口調など自由に選択可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" y="4917948"/>
            <a:ext cx="2759202" cy="846582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35858" y="4917948"/>
            <a:ext cx="4138803" cy="846582"/>
          </a:xfrm>
          <a:prstGeom prst="rect">
            <a:avLst/>
          </a:prstGeom>
          <a:solidFill>
            <a:srgbClr val="F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74661" y="4917948"/>
            <a:ext cx="4138803" cy="84658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972812"/>
            <a:ext cx="2576322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投稿予約機能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7298" y="4972812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✕  予約機能なし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6101" y="4972812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◎  あり。1ヶ月分の投稿予約も可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" y="5791962"/>
            <a:ext cx="2759202" cy="846582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35858" y="5791962"/>
            <a:ext cx="4138803" cy="846582"/>
          </a:xfrm>
          <a:prstGeom prst="rect">
            <a:avLst/>
          </a:prstGeom>
          <a:solidFill>
            <a:srgbClr val="F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74661" y="5791962"/>
            <a:ext cx="4138803" cy="84658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5846826"/>
            <a:ext cx="2576322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LINE通知機能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7298" y="5846826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2234"/>
                </a:solidFill>
              </a:rPr>
              <a:t>✕  通知機能なし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6101" y="5846826"/>
            <a:ext cx="3955923" cy="76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000"/>
                </a:solidFill>
              </a:rPr>
              <a:t>◎  あり。新着口コミにすぐ対応可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E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Box 14"/>
          <p:cNvSpPr txBox="1"/>
          <p:nvPr/>
        </p:nvSpPr>
        <p:spPr>
          <a:xfrm>
            <a:off x="3412906" y="548640"/>
            <a:ext cx="7313371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0" b="1">
                <a:solidFill>
                  <a:srgbClr val="004A58"/>
                </a:solidFill>
              </a:rPr>
              <a:t>NOW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68712" y="128016"/>
            <a:ext cx="1737360" cy="347472"/>
          </a:xfrm>
          <a:prstGeom prst="round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22234"/>
                </a:solidFill>
              </a:rPr>
              <a:t>MEO対策サービス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01168"/>
            <a:ext cx="112379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C000"/>
                </a:solidFill>
              </a:rPr>
              <a:t>なぜ今、MEO対策なのか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051560"/>
            <a:ext cx="11237976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298448"/>
            <a:ext cx="10506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✓  スマートフォン検索の約78%がGoogleを使用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956816"/>
            <a:ext cx="10506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✓  「近くの○○」検索は年々増加し続けている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615184"/>
            <a:ext cx="10506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✓  Googleマップ上位表示 = 24時間365日自動集客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273552"/>
            <a:ext cx="10506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✓  競合他社がMEO対策を始める前に先行優位を確立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" y="4766310"/>
            <a:ext cx="10287000" cy="1508760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4903470"/>
            <a:ext cx="973836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000"/>
                </a:solidFill>
              </a:rPr>
              <a:t>今すぐ無料相談 — 貴店に最適なMEO戦略をご提案します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5589270"/>
            <a:ext cx="97383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TEL: 000-0000-0000 / LINE: @xxxxx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540000">
            <a:off x="-182880" y="2606040"/>
            <a:ext cx="7069683" cy="50292"/>
          </a:xfrm>
          <a:prstGeom prst="rect">
            <a:avLst/>
          </a:prstGeom>
          <a:solidFill>
            <a:srgbClr val="F5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731337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ご清聴ありがとうございました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633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D9E0"/>
                </a:solidFill>
              </a:rPr>
              <a:t>MEO対策で、あなたのお店を</a:t>
            </a:r>
          </a:p>
          <a:p>
            <a:pPr algn="l"/>
            <a:r>
              <a:rPr sz="1800" b="0">
                <a:solidFill>
                  <a:srgbClr val="3DD9E0"/>
                </a:solidFill>
              </a:rPr>
              <a:t>GoogleマップのTOPへ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633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D9E0"/>
                </a:solidFill>
              </a:rPr>
              <a:t>📍  Googleビジネスプロフィール最適化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10128"/>
            <a:ext cx="633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D9E0"/>
                </a:solidFill>
              </a:rPr>
              <a:t>🤖  AIロコミ返信・投稿自動化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77056"/>
            <a:ext cx="633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D9E0"/>
                </a:solidFill>
              </a:rPr>
              <a:t>📊  月次レポート・前年比グラフ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43984"/>
            <a:ext cx="6338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D9E0"/>
                </a:solidFill>
              </a:rPr>
              <a:t>🔔  LINE通知で即時対応サポート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623560"/>
            <a:ext cx="6338255" cy="658368"/>
          </a:xfrm>
          <a:prstGeom prst="rect">
            <a:avLst/>
          </a:prstGeom>
          <a:solidFill>
            <a:srgbClr val="005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60720"/>
            <a:ext cx="58506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株式会社〇〇  |  TEL: 000-0000-0000 / LINE: @xxxxx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