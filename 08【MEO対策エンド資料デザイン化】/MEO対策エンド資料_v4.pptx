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480060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C4CC"/>
              </a:gs>
              <a:gs pos="100000">
                <a:srgbClr val="3DD9E0"/>
              </a:gs>
            </a:gsLst>
            <a:lin ang="0" scaled="0"/>
          </a:gradFill>
          <a:xfrm>
            <a:off x="6338255" y="0"/>
            <a:ext cx="5850696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88487" y="-1097280"/>
            <a:ext cx="4114800" cy="4114800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50738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MEO対策で</a:t>
            </a:r>
          </a:p>
          <a:p>
            <a:pPr algn="l"/>
            <a:r>
              <a:rPr sz="4600" b="1">
                <a:solidFill>
                  <a:srgbClr val="FFFFFF"/>
                </a:solidFill>
              </a:rPr>
              <a:t>集客力を最大化する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950738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Googleマップ集客で、売上が上がる、選ばれるお店に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43500"/>
            <a:ext cx="73133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MEO対策 / Googleビジネスプロフィール最適化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92140"/>
            <a:ext cx="73133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検索上位獲得で、見込み客を自動集客</a:t>
            </a:r>
          </a:p>
        </p:txBody>
      </p:sp>
    </p:spTree>
    <p:bgPr>
      <a:gradFill>
        <a:gsLst>
          <a:gs pos="0">
            <a:srgbClr val="005E6E"/>
          </a:gs>
          <a:gs pos="100000">
            <a:srgbClr val="00C4CC"/>
          </a:gs>
        </a:gsLst>
        <a:lin ang="0" scaled="0"/>
      </a:gradFill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11480" y="3429000"/>
            <a:ext cx="11777472" cy="457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7150" y="0"/>
            <a:ext cx="4631801" cy="6858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79039" y="548640"/>
            <a:ext cx="4266133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09A9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670392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D9E0"/>
                </a:solidFill>
              </a:rPr>
              <a:t>検索のメインがスマートフォンの今</a:t>
            </a:r>
          </a:p>
          <a:p>
            <a:pPr algn="l"/>
            <a:r>
              <a:rPr sz="1800" b="0">
                <a:solidFill>
                  <a:srgbClr val="3DD9E0"/>
                </a:solidFill>
              </a:rPr>
              <a:t>店舗集客の最短は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6703923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Googleマップ戦略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で勝つこと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ounded Rectangle 21"/>
          <p:cNvSpPr/>
          <p:nvPr/>
        </p:nvSpPr>
        <p:spPr>
          <a:xfrm>
            <a:off x="566928" y="6291072"/>
            <a:ext cx="11183112" cy="41148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604772"/>
            <a:ext cx="2615184" cy="500634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2519172"/>
            <a:ext cx="137160" cy="36576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604772"/>
            <a:ext cx="2615184" cy="500634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519172"/>
            <a:ext cx="137160" cy="36576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3864" y="1604772"/>
            <a:ext cx="2615184" cy="500634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2519172"/>
            <a:ext cx="137160" cy="36576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604772"/>
            <a:ext cx="2615184" cy="500634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今、MEO対策が必要な理由 ─ お客様はこうしてお店を選んでいます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41932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000"/>
                </a:solidFill>
              </a:rPr>
              <a:t>01</a:t>
            </a:r>
          </a:p>
          <a:p>
            <a:pPr algn="ctr"/>
            <a:r>
              <a:rPr sz="2200" b="1">
                <a:solidFill>
                  <a:srgbClr val="F5C000"/>
                </a:solidFill>
              </a:rPr>
              <a:t>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93492"/>
            <a:ext cx="2459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スマートフォンで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地域＋業種を検索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741932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000"/>
                </a:solidFill>
              </a:rPr>
              <a:t>02</a:t>
            </a:r>
          </a:p>
          <a:p>
            <a:pPr algn="ctr"/>
            <a:r>
              <a:rPr sz="2200" b="1">
                <a:solidFill>
                  <a:srgbClr val="F5C000"/>
                </a:solidFill>
              </a:rPr>
              <a:t>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793492"/>
            <a:ext cx="2459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写真や★評価で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複数店舗を比較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41932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000"/>
                </a:solidFill>
              </a:rPr>
              <a:t>03</a:t>
            </a:r>
          </a:p>
          <a:p>
            <a:pPr algn="ctr"/>
            <a:r>
              <a:rPr sz="2200" b="1">
                <a:solidFill>
                  <a:srgbClr val="F5C000"/>
                </a:solidFill>
              </a:rPr>
              <a:t>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93492"/>
            <a:ext cx="2459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口コミを読んで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来店店舗を決定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741932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000"/>
                </a:solidFill>
              </a:rPr>
              <a:t>04</a:t>
            </a:r>
          </a:p>
          <a:p>
            <a:pPr algn="ctr"/>
            <a:r>
              <a:rPr sz="2200" b="1">
                <a:solidFill>
                  <a:srgbClr val="F5C000"/>
                </a:solidFill>
              </a:rPr>
              <a:t>行動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793492"/>
            <a:ext cx="2459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ルート検索・電話で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来店行動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309360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000"/>
                </a:solidFill>
              </a:rPr>
              <a:t>これら全て、Googleマップだけで完結します！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ounded Rectangle 12"/>
          <p:cNvSpPr/>
          <p:nvPr/>
        </p:nvSpPr>
        <p:spPr>
          <a:xfrm>
            <a:off x="5241249" y="3785616"/>
            <a:ext cx="6094476" cy="457200"/>
          </a:xfrm>
          <a:prstGeom prst="round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41249" y="3118104"/>
            <a:ext cx="6094476" cy="566928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41249" y="2560320"/>
            <a:ext cx="6094476" cy="457200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0444" y="0"/>
            <a:ext cx="7313371" cy="68580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5580" y="0"/>
            <a:ext cx="54864" cy="68580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5400000" scaled="0"/>
          </a:gradFill>
          <a:xfrm>
            <a:off x="0" y="0"/>
            <a:ext cx="487558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463180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検索結果で</a:t>
            </a:r>
          </a:p>
          <a:p>
            <a:pPr algn="l"/>
            <a:r>
              <a:rPr sz="3400" b="1">
                <a:solidFill>
                  <a:srgbClr val="FFFFFF"/>
                </a:solidFill>
              </a:rPr>
              <a:t>最も目立つ場所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01168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C000"/>
                </a:solidFill>
              </a:rPr>
              <a:t>それが、Googleマップです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4631801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検索画面の上から順に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① 広告枠（リスティング）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② 地図枠＝ローカルパック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③ 自然検索枠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Googleマップは最上位の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"目立つゾーン"を占有します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1249" y="1097280"/>
            <a:ext cx="6460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</a:rPr>
              <a:t>最も目に入りやすい場所に</a:t>
            </a:r>
          </a:p>
          <a:p>
            <a:pPr algn="l"/>
            <a:r>
              <a:rPr sz="2400" b="1">
                <a:solidFill>
                  <a:srgbClr val="122234"/>
                </a:solidFill>
              </a:rPr>
              <a:t>あなたの店舗を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5028" y="2633472"/>
            <a:ext cx="57288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① リスティング広告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5028" y="3191256"/>
            <a:ext cx="57288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② ローカルパック  ← ここ！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5028" y="3858768"/>
            <a:ext cx="57288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③ 自然検索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1249" y="5852160"/>
            <a:ext cx="6460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ローカルパックのクリック率は広告枠の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約2〜3倍。最も費用対効果が高い集客手段です。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8269224" y="1559052"/>
            <a:ext cx="3599688" cy="4869180"/>
          </a:xfrm>
          <a:prstGeom prst="round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6656" y="1559052"/>
            <a:ext cx="3599688" cy="486918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59052"/>
            <a:ext cx="3599688" cy="486918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Googleマップが売上に直結する理由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50492"/>
            <a:ext cx="3416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C00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07692"/>
            <a:ext cx="34625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圧倒的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ビュー数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6412"/>
            <a:ext cx="346252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上位表示されるだけで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月数万〜数十万回の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表示機会を獲得できます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3816" y="1650492"/>
            <a:ext cx="3416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C00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2107692"/>
            <a:ext cx="34625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来店意欲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の向上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816" y="3296412"/>
            <a:ext cx="346252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写真・口コミで信頼感UP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初めてのお客様も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安心して来店できます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6384" y="1650492"/>
            <a:ext cx="3416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C00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6384" y="2107692"/>
            <a:ext cx="34625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売上</a:t>
            </a:r>
          </a:p>
          <a:p>
            <a:pPr algn="l"/>
            <a:r>
              <a:rPr sz="2400" b="1">
                <a:solidFill>
                  <a:srgbClr val="FFFFFF"/>
                </a:solidFill>
              </a:rPr>
              <a:t>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6384" y="3296412"/>
            <a:ext cx="346252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ルート検索・電話・予約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来店行動の全てがMAP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一つで完結します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5508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A9A"/>
                </a:solidFill>
              </a:rPr>
              <a:t>上位表示が、直接的な利益に繋がる体験をご実感ください！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ounded Rectangle 17"/>
          <p:cNvSpPr/>
          <p:nvPr/>
        </p:nvSpPr>
        <p:spPr>
          <a:xfrm>
            <a:off x="8981694" y="1600200"/>
            <a:ext cx="2612898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5916" y="1600200"/>
            <a:ext cx="2612898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0138" y="1600200"/>
            <a:ext cx="2612898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612898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Googleマップ経由で増える行動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C000"/>
                </a:solidFill>
              </a:rPr>
              <a:t>ユーザーはGoogleマップで「見つけて → 確認して → 来店する」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4300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521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店舗をみつける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52145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「近くの○○」で検索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地図上に表示される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1578" y="1737360"/>
            <a:ext cx="24300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5858" y="2423160"/>
            <a:ext cx="2521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写真・口コミを見る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858" y="3154680"/>
            <a:ext cx="252145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雰囲気・評判を確認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来店判断に直結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737360"/>
            <a:ext cx="24300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2423160"/>
            <a:ext cx="2521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ルート検索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3154680"/>
            <a:ext cx="252145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ワンタップで経路案内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来店率が大幅UP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3134" y="1737360"/>
            <a:ext cx="24300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7414" y="2423160"/>
            <a:ext cx="2521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ウェブサイトを見る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7414" y="3154680"/>
            <a:ext cx="252145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メニュー・予約ページへ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シームレスに誘導</a:t>
            </a:r>
          </a:p>
        </p:txBody>
      </p:sp>
    </p:spTree>
    <p:bgPr>
      <a:gradFill>
        <a:gsLst>
          <a:gs pos="0">
            <a:srgbClr val="005E6E"/>
          </a:gs>
          <a:gs pos="100000">
            <a:srgbClr val="009A9A"/>
          </a:gs>
        </a:gsLst>
        <a:lin ang="5400000" scaled="0"/>
      </a:gradFill>
    </p:bgPr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6286500" y="1559052"/>
            <a:ext cx="5765292" cy="491490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888" y="1559052"/>
            <a:ext cx="5765292" cy="4914900"/>
          </a:xfrm>
          <a:prstGeom prst="round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選ばれる店舗と選ばれない店舗の差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50492"/>
            <a:ext cx="54452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86C"/>
                </a:solidFill>
              </a:rPr>
              <a:t>選ばれない店舗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3629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✕  写真がない / 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3921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✕  住所・電話番号が不正確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4213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✕  口コミゼロ or 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84505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✕  情報更新が止まっている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34797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✕  営業時間が不明確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080760"/>
            <a:ext cx="56281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86C"/>
                </a:solidFill>
              </a:rPr>
              <a:t>機会損失 — 見込み客を競合に奪われる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80" y="1650492"/>
            <a:ext cx="54452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選ばれる店舗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33629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魅力的な写真が豊富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283921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情報が正確で最新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34213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高評価口コミが多い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84505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定期的に情報更新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4347972"/>
            <a:ext cx="54452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オーナー返信あり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3660" y="6080760"/>
            <a:ext cx="56281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集客チャンス — 選ばれ続ける店舗へ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8997696" y="2484424"/>
            <a:ext cx="2670048" cy="3578047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206447"/>
            <a:ext cx="2670048" cy="3856024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8144" y="1928469"/>
            <a:ext cx="2670048" cy="413400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50492"/>
            <a:ext cx="2670048" cy="4411980"/>
          </a:xfrm>
          <a:prstGeom prst="round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上位表示されると何が変わるのか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33372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234"/>
                </a:solidFill>
              </a:rPr>
              <a:t>圏外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19172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見つけてもらえない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存在しないも同然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544" y="3415284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11349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上位表示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797149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検索で発見される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月間ビュー数が激増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415284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389327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信頼獲得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75127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口コミ・写真で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来店意欲が高まる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3415284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667304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234"/>
                </a:solidFill>
              </a:rPr>
              <a:t>売上UP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3353104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電話・来店・予約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アクション数が倍増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27648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4586C"/>
                </a:solidFill>
              </a:rPr>
              <a:t>どれだけプロフィールを整えても、見つからなければ効果は得られません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Googleが店舗を評価する3つの要素</a:t>
            </a:r>
          </a:p>
        </p:txBody>
      </p:sp>
      <p:sp>
        <p:nvSpPr>
          <p:cNvPr id="7" name="Oval 6"/>
          <p:cNvSpPr/>
          <p:nvPr/>
        </p:nvSpPr>
        <p:spPr>
          <a:xfrm>
            <a:off x="1108252" y="1650492"/>
            <a:ext cx="2867558" cy="3240405"/>
          </a:xfrm>
          <a:prstGeom prst="ellipse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66519"/>
            <a:ext cx="28675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関連性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30627"/>
            <a:ext cx="28675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000"/>
                </a:solidFill>
              </a:rPr>
              <a:t>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2297"/>
            <a:ext cx="28675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検索キーワードと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プロフィール情報の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一致度・完全性</a:t>
            </a:r>
          </a:p>
        </p:txBody>
      </p:sp>
      <p:sp>
        <p:nvSpPr>
          <p:cNvPr id="11" name="Oval 10"/>
          <p:cNvSpPr/>
          <p:nvPr/>
        </p:nvSpPr>
        <p:spPr>
          <a:xfrm>
            <a:off x="4692700" y="1650492"/>
            <a:ext cx="2867558" cy="3240405"/>
          </a:xfrm>
          <a:prstGeom prst="ellipse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866519"/>
            <a:ext cx="28675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距離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730627"/>
            <a:ext cx="28675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000"/>
                </a:solidFill>
              </a:rPr>
              <a:t>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3292297"/>
            <a:ext cx="28675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ユーザーの現在地と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店舗の物理的距離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（エリア設定も有効）</a:t>
            </a:r>
          </a:p>
        </p:txBody>
      </p:sp>
      <p:sp>
        <p:nvSpPr>
          <p:cNvPr id="15" name="Oval 14"/>
          <p:cNvSpPr/>
          <p:nvPr/>
        </p:nvSpPr>
        <p:spPr>
          <a:xfrm>
            <a:off x="8277148" y="1650492"/>
            <a:ext cx="2867558" cy="3240405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1866519"/>
            <a:ext cx="28675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知名度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2730627"/>
            <a:ext cx="28675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000"/>
                </a:solidFill>
              </a:rPr>
              <a:t>Prominence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292297"/>
            <a:ext cx="28675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口コミ数・評価点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Web上での言及度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ブランド認知度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23620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Googleのアルゴリズムは日々変化します。専門知識なしでMEO対策を継続するのは困難な時代です。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4860401" y="4663440"/>
            <a:ext cx="64008" cy="155448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401" y="4663440"/>
            <a:ext cx="7099950" cy="155448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60401" y="2971800"/>
            <a:ext cx="64008" cy="155448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60401" y="2971800"/>
            <a:ext cx="7099950" cy="155448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60401" y="1280160"/>
            <a:ext cx="64008" cy="155448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60401" y="1280160"/>
            <a:ext cx="7099950" cy="155448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31801" y="0"/>
            <a:ext cx="54864" cy="68580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4631801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26613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距離と</a:t>
            </a:r>
          </a:p>
          <a:p>
            <a:pPr algn="l"/>
            <a:r>
              <a:rPr sz="3200" b="1">
                <a:solidFill>
                  <a:srgbClr val="FFFFFF"/>
                </a:solidFill>
              </a:rPr>
              <a:t>エリアの</a:t>
            </a:r>
          </a:p>
          <a:p>
            <a:pPr algn="l"/>
            <a:r>
              <a:rPr sz="3200" b="1">
                <a:solidFill>
                  <a:srgbClr val="FFFFFF"/>
                </a:solidFill>
              </a:rPr>
              <a:t>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426613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000"/>
                </a:solidFill>
              </a:rPr>
              <a:t>Googleは距離だけでなく</a:t>
            </a:r>
          </a:p>
          <a:p>
            <a:pPr algn="l"/>
            <a:r>
              <a:rPr sz="1400" b="0">
                <a:solidFill>
                  <a:srgbClr val="F5C000"/>
                </a:solidFill>
              </a:rPr>
              <a:t>関連性・知名度も</a:t>
            </a:r>
          </a:p>
          <a:p>
            <a:pPr algn="l"/>
            <a:r>
              <a:rPr sz="1400" b="0">
                <a:solidFill>
                  <a:srgbClr val="F5C000"/>
                </a:solidFill>
              </a:rPr>
              <a:t>総合的に判断します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401" y="365760"/>
            <a:ext cx="70999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234"/>
                </a:solidFill>
              </a:rPr>
              <a:t>距離だけではない！エリア戦略がカギ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281" y="1371600"/>
            <a:ext cx="68256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📍 地域キーワード対策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3281" y="1874520"/>
            <a:ext cx="6825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「新宿 カフェ」「渋谷 ランチ」など地名を含むキーワードで</a:t>
            </a:r>
          </a:p>
          <a:p>
            <a:pPr algn="l"/>
            <a:r>
              <a:rPr sz="1200" b="0">
                <a:solidFill>
                  <a:srgbClr val="44586C"/>
                </a:solidFill>
              </a:rPr>
              <a:t>上位表示を狙うことが効果的です。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3281" y="3063240"/>
            <a:ext cx="68256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🎯 エリア設定の最適化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3281" y="3566160"/>
            <a:ext cx="6825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店舗から一定距離のユーザーに表示されやすくするため</a:t>
            </a:r>
          </a:p>
          <a:p>
            <a:pPr algn="l"/>
            <a:r>
              <a:rPr sz="1200" b="0">
                <a:solidFill>
                  <a:srgbClr val="44586C"/>
                </a:solidFill>
              </a:rPr>
              <a:t>サービスエリアの正確な設定が重要です。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3281" y="4754880"/>
            <a:ext cx="68256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📊 検索意図との一致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3281" y="5257800"/>
            <a:ext cx="6825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「近くの○○」「今すぐ行ける○○」など</a:t>
            </a:r>
          </a:p>
          <a:p>
            <a:pPr algn="l"/>
            <a:r>
              <a:rPr sz="1200" b="0">
                <a:solidFill>
                  <a:srgbClr val="44586C"/>
                </a:solidFill>
              </a:rPr>
              <a:t>来店意欲の高いキーワードへの対応が成果を左右します。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9123426" y="1604772"/>
            <a:ext cx="2626614" cy="4823460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2220" y="1604772"/>
            <a:ext cx="2626614" cy="4823460"/>
          </a:xfrm>
          <a:prstGeom prst="round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41014" y="1604772"/>
            <a:ext cx="2626614" cy="482346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04772"/>
            <a:ext cx="2626614" cy="482346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知名度・口コミの影響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41932"/>
            <a:ext cx="25168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口コミの数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64892"/>
            <a:ext cx="251688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多くのポジティブな口コミは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信頼性を高め、新規顧客を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引きつけます。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0742" y="1741932"/>
            <a:ext cx="25168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口コミの質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0742" y="2564892"/>
            <a:ext cx="251688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具体的な高評価は順位だけ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でなく来店意欲を直接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高めます。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1948" y="1741932"/>
            <a:ext cx="25168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オーナー返信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1948" y="2564892"/>
            <a:ext cx="251688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返信はGoogleとユーザー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双方からの評価対象。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誠実な対応が武器になります。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3154" y="1741932"/>
            <a:ext cx="25168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2234"/>
                </a:solidFill>
              </a:rPr>
              <a:t>知名度UP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3154" y="2564892"/>
            <a:ext cx="251688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Web上での言及・被リンク・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SNSでの認知度も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アルゴリズムが参照します。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6332220" y="3947922"/>
            <a:ext cx="73152" cy="225171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2220" y="3947922"/>
            <a:ext cx="5399532" cy="2251710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947922"/>
            <a:ext cx="73152" cy="225171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3947922"/>
            <a:ext cx="5399532" cy="2251710"/>
          </a:xfrm>
          <a:prstGeom prst="round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2220" y="1559052"/>
            <a:ext cx="73152" cy="225171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2220" y="1559052"/>
            <a:ext cx="5399532" cy="225171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59052"/>
            <a:ext cx="73152" cy="225171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559052"/>
            <a:ext cx="5399532" cy="225171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選ばれる店舗の共通点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96212"/>
            <a:ext cx="52166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情報が正確で充実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36292"/>
            <a:ext cx="5216652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営業時間・住所・電話番号・ウェブサイトなど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必要な情報が最新かつ正確に整備されている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1696212"/>
            <a:ext cx="52166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写真が魅力的で豊富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336292"/>
            <a:ext cx="5216652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店舗外観・内観・商品・サービス・スタッフなど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来店意欲を高める写真が多数掲載されている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85082"/>
            <a:ext cx="52166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高評価の口コミが多い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25162"/>
            <a:ext cx="5216652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お客様からのポジティブな口コミが蓄積され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オーナーが丁寧に返信している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4085082"/>
            <a:ext cx="52166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定期的に情報更新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725162"/>
            <a:ext cx="5216652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新商品・イベント・キャンペーンなど</a:t>
            </a:r>
          </a:p>
          <a:p>
            <a:pPr algn="l"/>
            <a:r>
              <a:rPr sz="1300" b="0">
                <a:solidFill>
                  <a:srgbClr val="122234"/>
                </a:solidFill>
              </a:rPr>
              <a:t>最新情報を定期的に発信し続けている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A9A"/>
                </a:solidFill>
              </a:rPr>
              <a:t>これらの要素を弊社MEO対策でまるっと解決できます！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8095488" y="1783080"/>
            <a:ext cx="3453384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7784" y="1783080"/>
            <a:ext cx="3453384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53384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口コミが来店を後押しする理由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C000"/>
                </a:solidFill>
              </a:rPr>
              <a:t>多くの高評価な口コミが、お客様の「失敗しない」という安心感を生み出します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70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5E6E"/>
                </a:solidFill>
              </a:rPr>
              <a:t>安心感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70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22234"/>
                </a:solidFill>
              </a:rPr>
              <a:t>「みんなが良いと言っている」</a:t>
            </a:r>
          </a:p>
          <a:p>
            <a:pPr algn="ctr"/>
            <a:r>
              <a:rPr sz="1400" b="0">
                <a:solidFill>
                  <a:srgbClr val="122234"/>
                </a:solidFill>
              </a:rPr>
              <a:t>事実が不安を取り除き</a:t>
            </a:r>
          </a:p>
          <a:p>
            <a:pPr algn="ctr"/>
            <a:r>
              <a:rPr sz="1400" b="0">
                <a:solidFill>
                  <a:srgbClr val="122234"/>
                </a:solidFill>
              </a:rPr>
              <a:t>来店へのハードルを下げます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9224" y="1920240"/>
            <a:ext cx="3270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5E6E"/>
                </a:solidFill>
              </a:rPr>
              <a:t>信頼性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224" y="2651760"/>
            <a:ext cx="3270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22234"/>
                </a:solidFill>
              </a:rPr>
              <a:t>実際の体験談は広告より</a:t>
            </a:r>
          </a:p>
          <a:p>
            <a:pPr algn="ctr"/>
            <a:r>
              <a:rPr sz="1400" b="0">
                <a:solidFill>
                  <a:srgbClr val="122234"/>
                </a:solidFill>
              </a:rPr>
              <a:t>信頼される。星評価が</a:t>
            </a:r>
          </a:p>
          <a:p>
            <a:pPr algn="ctr"/>
            <a:r>
              <a:rPr sz="1400" b="0">
                <a:solidFill>
                  <a:srgbClr val="122234"/>
                </a:solidFill>
              </a:rPr>
              <a:t>高いほど選ばれやすい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6928" y="1920240"/>
            <a:ext cx="3270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5E6E"/>
                </a:solidFill>
              </a:rPr>
              <a:t>社会的証明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6928" y="2651760"/>
            <a:ext cx="3270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22234"/>
                </a:solidFill>
              </a:rPr>
              <a:t>多くの人が選んでいる実績が</a:t>
            </a:r>
          </a:p>
          <a:p>
            <a:pPr algn="ctr"/>
            <a:r>
              <a:rPr sz="1400" b="0">
                <a:solidFill>
                  <a:srgbClr val="122234"/>
                </a:solidFill>
              </a:rPr>
              <a:t>「自分も行くべきだ」という</a:t>
            </a:r>
          </a:p>
          <a:p>
            <a:pPr algn="ctr"/>
            <a:r>
              <a:rPr sz="1400" b="0">
                <a:solidFill>
                  <a:srgbClr val="122234"/>
                </a:solidFill>
              </a:rPr>
              <a:t>心理を生み出します</a:t>
            </a:r>
          </a:p>
        </p:txBody>
      </p:sp>
    </p:spTree>
    <p:bgPr>
      <a:gradFill>
        <a:gsLst>
          <a:gs pos="0">
            <a:srgbClr val="005E6E"/>
          </a:gs>
          <a:gs pos="100000">
            <a:srgbClr val="009A9A"/>
          </a:gs>
        </a:gsLst>
        <a:lin ang="0" scaled="0"/>
      </a:gradFill>
    </p:bgPr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ounded Rectangle 13"/>
          <p:cNvSpPr/>
          <p:nvPr/>
        </p:nvSpPr>
        <p:spPr>
          <a:xfrm>
            <a:off x="5393679" y="4297680"/>
            <a:ext cx="6612392" cy="169164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3679" y="2377440"/>
            <a:ext cx="6612392" cy="169164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3679" y="457200"/>
            <a:ext cx="6612392" cy="169164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4266133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54864" cy="68580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5400000" scaled="0"/>
          </a:gradFill>
          <a:xfrm>
            <a:off x="0" y="0"/>
            <a:ext cx="511935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20040"/>
            <a:ext cx="463180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AIを活用した</a:t>
            </a:r>
          </a:p>
          <a:p>
            <a:pPr algn="l"/>
            <a:r>
              <a:rPr sz="3000" b="1">
                <a:solidFill>
                  <a:srgbClr val="FFFFFF"/>
                </a:solidFill>
              </a:rPr>
              <a:t>口コミ返信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63180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C000"/>
                </a:solidFill>
              </a:rPr>
              <a:t>口コミの返信文章に</a:t>
            </a:r>
          </a:p>
          <a:p>
            <a:pPr algn="l"/>
            <a:r>
              <a:rPr sz="1500" b="0">
                <a:solidFill>
                  <a:srgbClr val="F5C000"/>
                </a:solidFill>
              </a:rPr>
              <a:t>迷ったことはありませんか？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4631801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ボタン一つで楽々文書作成・返信！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AIが口コミ内容を深く理解し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1人1人に最適な文章で返信。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返信の手間を大幅削減し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オーナー様は本業に集中できます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594360"/>
            <a:ext cx="6292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C000"/>
                </a:solidFill>
              </a:rPr>
              <a:t>🤖 AI生成返信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6559" y="1188720"/>
            <a:ext cx="6292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ボタン1つで返信文章を自動生成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口調・絵文字も自由にカスタマイズ可能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6559" y="2514600"/>
            <a:ext cx="6292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C000"/>
                </a:solidFill>
              </a:rPr>
              <a:t>⚡ スピード対応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6559" y="3108960"/>
            <a:ext cx="6292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新着口コミをLINE通知で即キャッチ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見逃しゼロで迅速な対応が可能に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6559" y="4434840"/>
            <a:ext cx="6292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C000"/>
                </a:solidFill>
              </a:rPr>
              <a:t>📊 分析レポート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6559" y="5029200"/>
            <a:ext cx="6292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口コミの傾向・評価推移を自動分析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改善すべきポイントが一目でわかる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8147304" y="2427732"/>
            <a:ext cx="64008" cy="404622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47304" y="2427732"/>
            <a:ext cx="3538728" cy="404622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427732"/>
            <a:ext cx="64008" cy="404622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2427732"/>
            <a:ext cx="3538728" cy="404622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427732"/>
            <a:ext cx="64008" cy="404622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2427732"/>
            <a:ext cx="3538728" cy="404622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9052"/>
            <a:ext cx="11183112" cy="64008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投稿は一気に準備できます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50492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"SNSの更新がなかなか続かない" — そんなオーナー様へ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64892"/>
            <a:ext cx="3401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</a:rPr>
              <a:t>AIで最適投稿を作成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96412"/>
            <a:ext cx="34015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店舗情報・季節・イベントを踏まえた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投稿文をAIが自動生成します。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忙しいオーナー様の手間を大幅削減。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564892"/>
            <a:ext cx="3401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1ヶ月分を一括予約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96412"/>
            <a:ext cx="34015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投稿スケジュール機能を使えば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一度に1ヶ月分の投稿を予約投稿可能。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まとめて準備して後は自動更新。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564892"/>
            <a:ext cx="3401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</a:rPr>
              <a:t>写真・絵文字も自由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3296412"/>
            <a:ext cx="34015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口調・絵文字・写真の組み合わせを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自由にカスタマイズ。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店舗の個性を出した投稿が可能です。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9A9A"/>
                </a:solidFill>
              </a:rPr>
              <a:t>弊社のMEO対策は、オーナー様の手間を最大限お手伝いします。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ounded Rectangle 19"/>
          <p:cNvSpPr/>
          <p:nvPr/>
        </p:nvSpPr>
        <p:spPr>
          <a:xfrm>
            <a:off x="9077706" y="2153412"/>
            <a:ext cx="2654046" cy="4274820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6500" y="2153412"/>
            <a:ext cx="2654046" cy="4274820"/>
          </a:xfrm>
          <a:prstGeom prst="round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5294" y="2153412"/>
            <a:ext cx="2654046" cy="427482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153412"/>
            <a:ext cx="2654046" cy="427482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継続運用が成果を生む理由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3332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MEO対策は早期導入・継続的な育成が成功のカギです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90572"/>
            <a:ext cx="25626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STEP 1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初期設定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04972"/>
            <a:ext cx="2562606" cy="317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プロフィールの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完全最適化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キーワード戦略策定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4126" y="302209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6734" y="2290572"/>
            <a:ext cx="25626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STEP 2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日々の運用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6734" y="3204972"/>
            <a:ext cx="2562606" cy="317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投稿・口コミ返信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写真更新・情報管理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LINE通知で即対応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5332" y="302209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2290572"/>
            <a:ext cx="25626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STEP 3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継続的更新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3204972"/>
            <a:ext cx="2562606" cy="317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キャンペーン・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イベント情報発信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アルゴリズム対応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6538" y="302209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9146" y="2290572"/>
            <a:ext cx="25626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STEP 4</a:t>
            </a:r>
          </a:p>
          <a:p>
            <a:pPr algn="ctr"/>
            <a:r>
              <a:rPr sz="1600" b="1">
                <a:solidFill>
                  <a:srgbClr val="122234"/>
                </a:solidFill>
              </a:rPr>
              <a:t>上位継続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9146" y="3204972"/>
            <a:ext cx="2562606" cy="317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月次レポート確認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前年比グラフで成果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PDCAで改善継続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9A9A"/>
                </a:solidFill>
              </a:rPr>
              <a:t>手間なく継続できる仕組みで、確実に成果を積み上げます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ounded Rectangle 33"/>
          <p:cNvSpPr/>
          <p:nvPr/>
        </p:nvSpPr>
        <p:spPr>
          <a:xfrm>
            <a:off x="566928" y="2061972"/>
            <a:ext cx="3200400" cy="91440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4589145"/>
            <a:ext cx="10936224" cy="2743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74680" y="2564892"/>
            <a:ext cx="838200" cy="368046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63328" y="2748915"/>
            <a:ext cx="838200" cy="3496437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51976" y="2859328"/>
            <a:ext cx="838200" cy="3386023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0624" y="3006547"/>
            <a:ext cx="838200" cy="3238804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9272" y="3227374"/>
            <a:ext cx="838200" cy="3017977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74593"/>
            <a:ext cx="838200" cy="287075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6568" y="3669030"/>
            <a:ext cx="838200" cy="2576322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5216" y="3963466"/>
            <a:ext cx="838200" cy="2281885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4405122"/>
            <a:ext cx="838200" cy="184023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72512" y="4589145"/>
            <a:ext cx="838200" cy="165620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61160" y="5141214"/>
            <a:ext cx="838200" cy="110413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5509260"/>
            <a:ext cx="838200" cy="736092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目に見える、閲覧数の増加 ─ 成長するMEO対策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3332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586C"/>
                </a:solidFill>
              </a:rPr>
              <a:t>キーワードが上位でも、閲覧数が増えなければ意味がありません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1160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2512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3月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4月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5216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5月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568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6月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7月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9272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8月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0624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9月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10月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3328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11月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680" y="6291072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12月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5164" y="44787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000"/>
                </a:solidFill>
              </a:rPr>
              <a:t>前年比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21259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毎月の閲覧数をグラフ化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前年と比較して成長を可視化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8441740" y="2473452"/>
            <a:ext cx="2965094" cy="395478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5372" y="4450842"/>
            <a:ext cx="2965094" cy="197739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9004" y="5637276"/>
            <a:ext cx="2965094" cy="790956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検索順位の上昇イメージ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3332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A9A"/>
                </a:solidFill>
              </a:rPr>
              <a:t>MEO対策で、段階的に上位表示を実現していきましょう！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686" y="4997196"/>
            <a:ext cx="33357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</a:rPr>
              <a:t>20位以下</a:t>
            </a:r>
          </a:p>
          <a:p>
            <a:pPr algn="ctr"/>
            <a:r>
              <a:rPr sz="2000" b="1">
                <a:solidFill>
                  <a:srgbClr val="122234"/>
                </a:solidFill>
              </a:rPr>
              <a:t>（圏外）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686" y="6473952"/>
            <a:ext cx="33357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対策前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054" y="3810762"/>
            <a:ext cx="33357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</a:rPr>
              <a:t>8位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054" y="6473952"/>
            <a:ext cx="33357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0.5ヶ月後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6422" y="1833372"/>
            <a:ext cx="33357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</a:rPr>
              <a:t>2位</a:t>
            </a:r>
          </a:p>
          <a:p>
            <a:pPr algn="ctr"/>
            <a:r>
              <a:rPr sz="2000" b="1">
                <a:solidFill>
                  <a:srgbClr val="122234"/>
                </a:solidFill>
              </a:rPr>
              <a:t>（TOP3入り）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6422" y="6473952"/>
            <a:ext cx="33357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1ヶ月後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7340" y="333984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3708" y="254889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ounded Rectangle 23"/>
          <p:cNvSpPr/>
          <p:nvPr/>
        </p:nvSpPr>
        <p:spPr>
          <a:xfrm>
            <a:off x="8999982" y="1737360"/>
            <a:ext cx="2576322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4204" y="1737360"/>
            <a:ext cx="2576322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8426" y="1737360"/>
            <a:ext cx="2576322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737360"/>
            <a:ext cx="2576322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83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電話・ルート検索・来店数の変化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C000"/>
                </a:solidFill>
              </a:rPr>
              <a:t>信頼できる店舗になることで、お客様からのアクションが劇的に増加します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239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23160"/>
            <a:ext cx="239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電話問い合わせ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71800"/>
            <a:ext cx="23934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上位表示で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タップして通話が急増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931920"/>
            <a:ext cx="239344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800"/>
                </a:solidFill>
              </a:rPr>
              <a:t>+180%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663440"/>
            <a:ext cx="23934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9866" y="1828800"/>
            <a:ext cx="239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9866" y="2423160"/>
            <a:ext cx="239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ルート検索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9866" y="2971800"/>
            <a:ext cx="23934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来店意欲の高い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ユーザーがルート案内開始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9866" y="3931920"/>
            <a:ext cx="239344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800"/>
                </a:solidFill>
              </a:rPr>
              <a:t>+220%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9866" y="4663440"/>
            <a:ext cx="23934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644" y="1828800"/>
            <a:ext cx="239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423160"/>
            <a:ext cx="239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来店客数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5644" y="2971800"/>
            <a:ext cx="23934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口コミ・写真が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来店の後押しに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5644" y="3931920"/>
            <a:ext cx="239344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800"/>
                </a:solidFill>
              </a:rPr>
              <a:t>+150%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4663440"/>
            <a:ext cx="23934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1422" y="1828800"/>
            <a:ext cx="239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1422" y="2423160"/>
            <a:ext cx="239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WEBサイト誘導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1422" y="2971800"/>
            <a:ext cx="23934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プロフィールからの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クリックが増加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1422" y="3931920"/>
            <a:ext cx="239344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800"/>
                </a:solidFill>
              </a:rPr>
              <a:t>+130%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1422" y="4663440"/>
            <a:ext cx="23934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</p:spTree>
    <p:bgPr>
      <a:gradFill>
        <a:gsLst>
          <a:gs pos="0">
            <a:srgbClr val="005E6E"/>
          </a:gs>
          <a:gs pos="100000">
            <a:srgbClr val="009A9A"/>
          </a:gs>
        </a:gsLst>
        <a:lin ang="5400000" scaled="0"/>
      </a:gradFill>
    </p:bgPr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" name="Rectangle 48"/>
          <p:cNvSpPr/>
          <p:nvPr/>
        </p:nvSpPr>
        <p:spPr>
          <a:xfrm>
            <a:off x="7667335" y="2061972"/>
            <a:ext cx="228600" cy="228600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95735" y="2061972"/>
            <a:ext cx="228600" cy="22860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78923" y="4257675"/>
            <a:ext cx="161388" cy="2124837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236840" y="2519172"/>
            <a:ext cx="221909" cy="386334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29732" y="4334941"/>
            <a:ext cx="161388" cy="2047570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787649" y="2828239"/>
            <a:ext cx="221909" cy="355427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80540" y="4450842"/>
            <a:ext cx="161388" cy="1931670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38457" y="3098673"/>
            <a:ext cx="221909" cy="3283839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1349" y="4528108"/>
            <a:ext cx="161388" cy="1854403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89266" y="3369106"/>
            <a:ext cx="221909" cy="3013405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82157" y="4644009"/>
            <a:ext cx="161388" cy="1738503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40075" y="3600907"/>
            <a:ext cx="221909" cy="2781604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2966" y="4721275"/>
            <a:ext cx="161388" cy="1661236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0883" y="3678174"/>
            <a:ext cx="221909" cy="270433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83775" y="4837176"/>
            <a:ext cx="161388" cy="1545336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41692" y="3871341"/>
            <a:ext cx="221909" cy="2511171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4583" y="4914442"/>
            <a:ext cx="161388" cy="1468069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500" y="4064508"/>
            <a:ext cx="221909" cy="2318004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85392" y="5030343"/>
            <a:ext cx="161388" cy="1352169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43309" y="4257675"/>
            <a:ext cx="221909" cy="2124837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36201" y="5146243"/>
            <a:ext cx="161388" cy="1236268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94118" y="4450842"/>
            <a:ext cx="221909" cy="193167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7009" y="5300776"/>
            <a:ext cx="161388" cy="1081735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4926" y="4644009"/>
            <a:ext cx="221909" cy="1738503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818" y="5416677"/>
            <a:ext cx="161388" cy="965835"/>
          </a:xfrm>
          <a:prstGeom prst="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5735" y="4837176"/>
            <a:ext cx="221909" cy="154533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53412"/>
            <a:ext cx="5119359" cy="432054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グラフで分かる、1年間の成長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3332"/>
            <a:ext cx="670392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86C"/>
                </a:solidFill>
              </a:rPr>
              <a:t>3年以上伸び続けているのか？MEO対策の効果が出ているのか？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90572"/>
            <a:ext cx="463180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成長するMEO対策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22092"/>
            <a:ext cx="4631801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毎月の閲覧数をグラフ化し、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前年と比較することで成長を可視化。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オーナー様の「本当に効果があるのか？」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という不安に、データで答えます。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弊社MEO対策に自信があるからこそ、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積み重なった実績をお見せできます。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5735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1月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4926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4118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3月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3309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4月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500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5月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1692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6月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0883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7月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0075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8月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9266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9月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8457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10月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7649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11月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36840" y="6419088"/>
            <a:ext cx="476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86C"/>
                </a:solidFill>
              </a:rPr>
              <a:t>12月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0055" y="20619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2234"/>
                </a:solidFill>
              </a:rPr>
              <a:t>今年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41655" y="20619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2234"/>
                </a:solidFill>
              </a:rPr>
              <a:t>前年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6697980" y="2290572"/>
            <a:ext cx="5262372" cy="4572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5100" y="1559052"/>
            <a:ext cx="5490972" cy="505206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290572"/>
            <a:ext cx="5262372" cy="45720"/>
          </a:xfrm>
          <a:prstGeom prst="rect">
            <a:avLst/>
          </a:prstGeom>
          <a:solidFill>
            <a:srgbClr val="445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59052"/>
            <a:ext cx="5490972" cy="5052060"/>
          </a:xfrm>
          <a:prstGeom prst="roundRect">
            <a:avLst/>
          </a:prstGeom>
          <a:solidFill>
            <a:srgbClr val="C4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導入前後の比較イメージ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50492"/>
            <a:ext cx="52623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86C"/>
                </a:solidFill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73452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✕  Googleマップを知らない客しか来ない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40380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✕  口コミがなく新規客が来店しない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07308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✕  競合店に検索で負けている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74236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✕  写真が少なく魅力が伝わらない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741164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✕  情報が古いまま放置されている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7980" y="1650492"/>
            <a:ext cx="52623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5C000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2473452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◎  Googleマップを見て来ました！の声が増加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700" y="3040380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◎  高評価口コミで新規客が続々来店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3607308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◎  検索TOP3に入り競合に差をつける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700" y="4174236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◎  魅力的な写真で来店意欲が高まる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4741164"/>
            <a:ext cx="51709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◎  最新情報で信頼感が格段に向上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ounded Rectangle 22"/>
          <p:cNvSpPr/>
          <p:nvPr/>
        </p:nvSpPr>
        <p:spPr>
          <a:xfrm>
            <a:off x="8238744" y="5650992"/>
            <a:ext cx="3447288" cy="64008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1559052"/>
            <a:ext cx="73152" cy="491490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1559052"/>
            <a:ext cx="3557016" cy="491490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17136" y="5650992"/>
            <a:ext cx="3447288" cy="64008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1559052"/>
            <a:ext cx="73152" cy="491490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1559052"/>
            <a:ext cx="3557016" cy="491490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5650992"/>
            <a:ext cx="3447288" cy="64008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559052"/>
            <a:ext cx="73152" cy="491490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59052"/>
            <a:ext cx="3557016" cy="4914900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なぜ安い業者では駄目なのか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96212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アルゴリズムは常に変化する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7732"/>
            <a:ext cx="3374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Googleのアルゴリズムは頻繁に更新されます。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安価な業者は最新動向への対応が遅く、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一時的な効果しか得られないことがほとんどです。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5715000"/>
            <a:ext cx="3374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時間だけを費やして成果が出ない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1696212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本業との両立が困難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27732"/>
            <a:ext cx="3374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継続的なMEO運用には専門知識と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毎日の管理工数が必要です。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自社対応では本業に支障が出てしまいます。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5715000"/>
            <a:ext cx="3374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結果、途中でやめてしまう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1696212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継続的な知見・実績が必要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427732"/>
            <a:ext cx="3374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成功するMEO対策は経験と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蓄積データに基づく戦略が不可欠です。</a:t>
            </a:r>
          </a:p>
          <a:p>
            <a:pPr algn="l"/>
            <a:r>
              <a:rPr sz="1300" b="0">
                <a:solidFill>
                  <a:srgbClr val="44586C"/>
                </a:solidFill>
              </a:rPr>
              <a:t>低コストでは必要なサポートが得られません。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5715000"/>
            <a:ext cx="3374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投資対効果が大幅に下がる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ounded Rectangle 21"/>
          <p:cNvSpPr/>
          <p:nvPr/>
        </p:nvSpPr>
        <p:spPr>
          <a:xfrm>
            <a:off x="8147304" y="4062222"/>
            <a:ext cx="3557016" cy="2393442"/>
          </a:xfrm>
          <a:prstGeom prst="round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4062222"/>
            <a:ext cx="3557016" cy="239344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4062222"/>
            <a:ext cx="3557016" cy="2393442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7304" y="1559052"/>
            <a:ext cx="3557016" cy="2393442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559052"/>
            <a:ext cx="3557016" cy="239344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59052"/>
            <a:ext cx="3557016" cy="2393442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プランで得られるメリット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6212"/>
            <a:ext cx="3374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000"/>
                </a:solidFill>
              </a:rPr>
              <a:t>01  最新ノウハウの活用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6292"/>
            <a:ext cx="3374136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Googleのアルゴリズム変更に即時対応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常に最適な戦略で運用を継続します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696212"/>
            <a:ext cx="3374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000"/>
                </a:solidFill>
              </a:rPr>
              <a:t>02  効率的な戦略立案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36292"/>
            <a:ext cx="3374136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ビジネスに最適化されたMEO戦略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PDCAサイクルで継続的に改善します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1696212"/>
            <a:ext cx="3374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000"/>
                </a:solidFill>
              </a:rPr>
              <a:t>03  AI機能で時間を節約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336292"/>
            <a:ext cx="3374136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口コミ返信・投稿作成をAIが自動化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管理工数を大幅に削減できます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99382"/>
            <a:ext cx="3374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000"/>
                </a:solidFill>
              </a:rPr>
              <a:t>04  透明性の高い管理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39462"/>
            <a:ext cx="3374136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月次レポート・グラフで成果を可視化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何をやっているか全てわかります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199382"/>
            <a:ext cx="3374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000"/>
                </a:solidFill>
              </a:rPr>
              <a:t>05  継続的なサポート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839462"/>
            <a:ext cx="3374136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ご要望・疑問に迅速に対応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LINE通知で常に最新状況を共有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199382"/>
            <a:ext cx="3374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05  継続的なサポート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839462"/>
            <a:ext cx="3374136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ご要望・疑問に迅速に対応</a:t>
            </a:r>
          </a:p>
          <a:p>
            <a:pPr algn="l"/>
            <a:r>
              <a:rPr sz="1300" b="0">
                <a:solidFill>
                  <a:srgbClr val="122234"/>
                </a:solidFill>
              </a:rPr>
              <a:t>LINE通知で常に最新状況を共有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6286500" y="4085082"/>
            <a:ext cx="5399532" cy="2388870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4085082"/>
            <a:ext cx="5399532" cy="2388870"/>
          </a:xfrm>
          <a:prstGeom prst="round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6500" y="1559052"/>
            <a:ext cx="5399532" cy="2388870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59052"/>
            <a:ext cx="5399532" cy="2388870"/>
          </a:xfrm>
          <a:prstGeom prst="round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MEO対策で得られる成果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23644"/>
            <a:ext cx="5198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01  集客力の向上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82012"/>
            <a:ext cx="5198364" cy="152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来店意欲のあるユーザーに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リーチし、新規顧客を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継続的に獲得します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9380" y="1723644"/>
            <a:ext cx="5198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02  業務の効率化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2382012"/>
            <a:ext cx="5198364" cy="152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煩雑な店舗管理を弊社が代行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本業に集中できる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環境を実現します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49674"/>
            <a:ext cx="5198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03  ブランド価値の向上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08042"/>
            <a:ext cx="5198364" cy="152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高評価と口コミが蓄積され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顧客からの信頼と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ブランド力が高まります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80" y="4249674"/>
            <a:ext cx="5198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234"/>
                </a:solidFill>
              </a:rPr>
              <a:t>04  コスト削減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4908042"/>
            <a:ext cx="5198364" cy="152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継続的なMEO効果で</a:t>
            </a:r>
          </a:p>
          <a:p>
            <a:pPr algn="l"/>
            <a:r>
              <a:rPr sz="1400" b="0">
                <a:solidFill>
                  <a:srgbClr val="122234"/>
                </a:solidFill>
              </a:rPr>
              <a:t>広告依存度を軽減し</a:t>
            </a:r>
          </a:p>
          <a:p>
            <a:pPr algn="l"/>
            <a:r>
              <a:rPr sz="1400" b="0">
                <a:solidFill>
                  <a:srgbClr val="122234"/>
                </a:solidFill>
              </a:rPr>
              <a:t>費用対効果が向上します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Rectangle 38"/>
          <p:cNvSpPr/>
          <p:nvPr/>
        </p:nvSpPr>
        <p:spPr>
          <a:xfrm>
            <a:off x="7567803" y="5799582"/>
            <a:ext cx="4118229" cy="82981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5799582"/>
            <a:ext cx="4118229" cy="82981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" y="5799582"/>
            <a:ext cx="2745486" cy="829818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67803" y="4942332"/>
            <a:ext cx="4118229" cy="82981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49574" y="4942332"/>
            <a:ext cx="4118229" cy="82981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" y="4942332"/>
            <a:ext cx="2745486" cy="829818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67803" y="4085082"/>
            <a:ext cx="4118229" cy="82981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49574" y="4085082"/>
            <a:ext cx="4118229" cy="82981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" y="4085082"/>
            <a:ext cx="2745486" cy="829818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67803" y="3227832"/>
            <a:ext cx="4118229" cy="82981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49574" y="3227832"/>
            <a:ext cx="4118229" cy="82981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" y="3227832"/>
            <a:ext cx="2745486" cy="829818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67803" y="2370582"/>
            <a:ext cx="4118229" cy="82981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2370582"/>
            <a:ext cx="4118229" cy="82981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2370582"/>
            <a:ext cx="2745486" cy="829818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7803" y="1513332"/>
            <a:ext cx="4118229" cy="82981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49574" y="1513332"/>
            <a:ext cx="4118229" cy="82981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513332"/>
            <a:ext cx="2745486" cy="82981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6172"/>
            <a:ext cx="64008" cy="54178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0" scaled="0"/>
          </a:gradFill>
          <a:xfrm>
            <a:off x="0" y="0"/>
            <a:ext cx="12188952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4117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他社MEOとの圧倒的な違い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77340"/>
            <a:ext cx="2562606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比較項目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157734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他社MEO対策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9243" y="157734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当社MEO対策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434590"/>
            <a:ext cx="2562606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可視化・透明性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1014" y="243459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✕  不透明・レポート提出のみ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9243" y="243459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完全可視化（カレンダー・グラフ）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291840"/>
            <a:ext cx="2562606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戦略性・運用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1014" y="329184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△  作業重視（投稿代行がメイン）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9243" y="329184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AIで投稿し放題・キーワード戦略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149090"/>
            <a:ext cx="2562606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AIの精度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1014" y="414909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△  簡易な文章のみ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9243" y="414909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絵文字・口調など自由に選択可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006340"/>
            <a:ext cx="2562606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投稿予約機能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1014" y="500634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✕  予約機能なし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59243" y="500634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あり。1ヶ月分の投稿予約も可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5863590"/>
            <a:ext cx="2562606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LINE通知機能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41014" y="586359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✕  通知機能なし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9243" y="5863590"/>
            <a:ext cx="3935349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あり。新着口コミにすぐ対応可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1005840" y="4800600"/>
            <a:ext cx="10177272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000"/>
                </a:solidFill>
              </a:rPr>
              <a:t>なぜ今、MEO対策なのか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63040"/>
            <a:ext cx="10268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✓  スマートフォン検索の約78%がGoogleを使用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10268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✓  「近くの○○」検索は年々増加し続けている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10268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✓  Googleマップ上位表示 = 24時間365日自動集客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20440"/>
            <a:ext cx="10268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✓  競合他社がMEO対策を始める前に先行優位を確立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5E6E"/>
                </a:solidFill>
              </a:rPr>
              <a:t>今すぐ無料相談 — 貴店に最適なMEO戦略をご提案します</a:t>
            </a:r>
          </a:p>
        </p:txBody>
      </p:sp>
    </p:spTree>
    <p:bgPr>
      <a:gradFill>
        <a:gsLst>
          <a:gs pos="0">
            <a:srgbClr val="005E6E"/>
          </a:gs>
          <a:gs pos="100000">
            <a:srgbClr val="009A9A"/>
          </a:gs>
        </a:gsLst>
        <a:lin ang="0" scaled="0"/>
      </a:gradFill>
    </p:bgPr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640080" y="2194560"/>
            <a:ext cx="4875580" cy="4572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73133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DD9E0"/>
                </a:solidFill>
              </a:rPr>
              <a:t>MEO対策で、あなたのお店を</a:t>
            </a:r>
          </a:p>
          <a:p>
            <a:pPr algn="l"/>
            <a:r>
              <a:rPr sz="2000" b="0">
                <a:solidFill>
                  <a:srgbClr val="3DD9E0"/>
                </a:solidFill>
              </a:rPr>
              <a:t>GoogleマップのTOPへ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6094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000"/>
                </a:solidFill>
              </a:rPr>
              <a:t>📍 Googleビジネスプロフィール最適化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6094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000"/>
                </a:solidFill>
              </a:rPr>
              <a:t>🤖 AI口コミ返信・投稿自動化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6094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000"/>
                </a:solidFill>
              </a:rPr>
              <a:t>📊 月次レポート・前年比グラフ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6094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000"/>
                </a:solidFill>
              </a:rPr>
              <a:t>🔔 LINE通知で即時対応サポート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